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9144000"/>
  <p:notesSz cx="6858000" cy="9144000"/>
  <p:embeddedFontLst>
    <p:embeddedFont>
      <p:font typeface="Open Sans ExtraBold"/>
      <p:bold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ExtraBold-bold.fntdata"/><Relationship Id="rId25" Type="http://schemas.openxmlformats.org/officeDocument/2006/relationships/slide" Target="slides/slide20.xml"/><Relationship Id="rId27" Type="http://schemas.openxmlformats.org/officeDocument/2006/relationships/font" Target="fonts/OpenSansExtraBold-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lvl1pPr indent="-381000" lvl="0" marL="457200" algn="l">
              <a:lnSpc>
                <a:spcPct val="114000"/>
              </a:lnSpc>
              <a:spcBef>
                <a:spcPts val="480"/>
              </a:spcBef>
              <a:spcAft>
                <a:spcPts val="0"/>
              </a:spcAft>
              <a:buClr>
                <a:schemeClr val="dk1"/>
              </a:buClr>
              <a:buSzPts val="2400"/>
              <a:buFont typeface="Noto Sans Symbols"/>
              <a:buChar char="▪"/>
              <a:defRPr sz="2400">
                <a:latin typeface="Calibri"/>
                <a:ea typeface="Calibri"/>
                <a:cs typeface="Calibri"/>
                <a:sym typeface="Calibri"/>
              </a:defRPr>
            </a:lvl1pPr>
            <a:lvl2pPr indent="-355600" lvl="1" marL="914400" algn="l">
              <a:lnSpc>
                <a:spcPct val="114000"/>
              </a:lnSpc>
              <a:spcBef>
                <a:spcPts val="400"/>
              </a:spcBef>
              <a:spcAft>
                <a:spcPts val="0"/>
              </a:spcAft>
              <a:buClr>
                <a:schemeClr val="dk1"/>
              </a:buClr>
              <a:buSzPts val="2000"/>
              <a:buFont typeface="Arial"/>
              <a:buChar char="•"/>
              <a:defRPr sz="2000">
                <a:latin typeface="Calibri"/>
                <a:ea typeface="Calibri"/>
                <a:cs typeface="Calibri"/>
                <a:sym typeface="Calibri"/>
              </a:defRPr>
            </a:lvl2pPr>
            <a:lvl3pPr indent="-342900" lvl="2" marL="1371600" algn="l">
              <a:lnSpc>
                <a:spcPct val="114000"/>
              </a:lnSpc>
              <a:spcBef>
                <a:spcPts val="360"/>
              </a:spcBef>
              <a:spcAft>
                <a:spcPts val="0"/>
              </a:spcAft>
              <a:buClr>
                <a:schemeClr val="dk1"/>
              </a:buClr>
              <a:buSzPts val="1800"/>
              <a:buChar char="•"/>
              <a:defRPr sz="1800">
                <a:latin typeface="Calibri"/>
                <a:ea typeface="Calibri"/>
                <a:cs typeface="Calibri"/>
                <a:sym typeface="Calibri"/>
              </a:defRPr>
            </a:lvl3pPr>
            <a:lvl4pPr indent="-330200" lvl="3" marL="1828800" algn="l">
              <a:lnSpc>
                <a:spcPct val="114000"/>
              </a:lnSpc>
              <a:spcBef>
                <a:spcPts val="320"/>
              </a:spcBef>
              <a:spcAft>
                <a:spcPts val="0"/>
              </a:spcAft>
              <a:buClr>
                <a:schemeClr val="dk1"/>
              </a:buClr>
              <a:buSzPts val="1600"/>
              <a:buChar char="–"/>
              <a:defRPr sz="1600">
                <a:latin typeface="Calibri"/>
                <a:ea typeface="Calibri"/>
                <a:cs typeface="Calibri"/>
                <a:sym typeface="Calibri"/>
              </a:defRPr>
            </a:lvl4pPr>
            <a:lvl5pPr indent="-330200" lvl="4" marL="2286000" algn="l">
              <a:lnSpc>
                <a:spcPct val="114000"/>
              </a:lnSpc>
              <a:spcBef>
                <a:spcPts val="320"/>
              </a:spcBef>
              <a:spcAft>
                <a:spcPts val="0"/>
              </a:spcAft>
              <a:buClr>
                <a:schemeClr val="dk1"/>
              </a:buClr>
              <a:buSzPts val="1600"/>
              <a:buChar char="»"/>
              <a:defRPr sz="1600">
                <a:latin typeface="Calibri"/>
                <a:ea typeface="Calibri"/>
                <a:cs typeface="Calibri"/>
                <a:sym typeface="Calibri"/>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3"/>
          <p:cNvSpPr/>
          <p:nvPr/>
        </p:nvSpPr>
        <p:spPr>
          <a:xfrm>
            <a:off x="0" y="6477000"/>
            <a:ext cx="4572000" cy="381000"/>
          </a:xfrm>
          <a:prstGeom prst="rect">
            <a:avLst/>
          </a:prstGeom>
          <a:solidFill>
            <a:srgbClr val="34495E"/>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FFFFFF"/>
                </a:solidFill>
                <a:latin typeface="Calibri"/>
                <a:ea typeface="Calibri"/>
                <a:cs typeface="Calibri"/>
                <a:sym typeface="Calibri"/>
              </a:rPr>
              <a:t>Department of Computer</a:t>
            </a:r>
            <a:r>
              <a:rPr lang="en-US" sz="1600">
                <a:solidFill>
                  <a:srgbClr val="FFFFFF"/>
                </a:solidFill>
                <a:latin typeface="Calibri"/>
                <a:ea typeface="Calibri"/>
                <a:cs typeface="Calibri"/>
                <a:sym typeface="Calibri"/>
              </a:rPr>
              <a:t> Science and Engineering</a:t>
            </a:r>
            <a:endParaRPr sz="1600">
              <a:solidFill>
                <a:srgbClr val="FFFFFF"/>
              </a:solidFill>
              <a:latin typeface="Calibri"/>
              <a:ea typeface="Calibri"/>
              <a:cs typeface="Calibri"/>
              <a:sym typeface="Calibri"/>
            </a:endParaRPr>
          </a:p>
        </p:txBody>
      </p:sp>
      <p:cxnSp>
        <p:nvCxnSpPr>
          <p:cNvPr id="23" name="Google Shape;23;p3"/>
          <p:cNvCxnSpPr/>
          <p:nvPr/>
        </p:nvCxnSpPr>
        <p:spPr>
          <a:xfrm>
            <a:off x="190500" y="914400"/>
            <a:ext cx="8763000" cy="0"/>
          </a:xfrm>
          <a:prstGeom prst="straightConnector1">
            <a:avLst/>
          </a:prstGeom>
          <a:noFill/>
          <a:ln cap="flat" cmpd="sng" w="9525">
            <a:solidFill>
              <a:srgbClr val="D8D8D8"/>
            </a:solidFill>
            <a:prstDash val="solid"/>
            <a:round/>
            <a:headEnd len="sm" w="sm" type="none"/>
            <a:tailEnd len="sm" w="sm" type="none"/>
          </a:ln>
        </p:spPr>
      </p:cxnSp>
      <p:sp>
        <p:nvSpPr>
          <p:cNvPr id="24" name="Google Shape;24;p3"/>
          <p:cNvSpPr/>
          <p:nvPr/>
        </p:nvSpPr>
        <p:spPr>
          <a:xfrm>
            <a:off x="4572000" y="6477490"/>
            <a:ext cx="4572000" cy="381000"/>
          </a:xfrm>
          <a:prstGeom prst="rect">
            <a:avLst/>
          </a:prstGeom>
          <a:solidFill>
            <a:srgbClr val="34495E"/>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FFFFFF"/>
                </a:solidFill>
                <a:latin typeface="Calibri"/>
                <a:ea typeface="Calibri"/>
                <a:cs typeface="Calibri"/>
                <a:sym typeface="Calibri"/>
              </a:rPr>
              <a:t>Rajalakshmi Engineering College 		</a:t>
            </a:r>
            <a:fld id="{00000000-1234-1234-1234-123412341234}" type="slidenum">
              <a:rPr lang="en-US" sz="1600">
                <a:solidFill>
                  <a:srgbClr val="FFFFFF"/>
                </a:solidFill>
                <a:latin typeface="Calibri"/>
                <a:ea typeface="Calibri"/>
                <a:cs typeface="Calibri"/>
                <a:sym typeface="Calibri"/>
              </a:rPr>
              <a:t>‹#›</a:t>
            </a:fld>
            <a:endParaRPr sz="1600">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Open Sans ExtraBold"/>
              <a:buNone/>
              <a:defRPr>
                <a:latin typeface="Open Sans ExtraBold"/>
                <a:ea typeface="Open Sans ExtraBold"/>
                <a:cs typeface="Open Sans ExtraBold"/>
                <a:sym typeface="Open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3"/>
          <p:cNvPicPr preferRelativeResize="0"/>
          <p:nvPr/>
        </p:nvPicPr>
        <p:blipFill rotWithShape="1">
          <a:blip r:embed="rId3">
            <a:alphaModFix/>
          </a:blip>
          <a:srcRect b="-30897" l="-776" r="776" t="63278"/>
          <a:stretch/>
        </p:blipFill>
        <p:spPr>
          <a:xfrm>
            <a:off x="-72010" y="-2532"/>
            <a:ext cx="9216010" cy="3231811"/>
          </a:xfrm>
          <a:prstGeom prst="rect">
            <a:avLst/>
          </a:prstGeom>
          <a:noFill/>
          <a:ln>
            <a:noFill/>
          </a:ln>
        </p:spPr>
      </p:pic>
      <p:grpSp>
        <p:nvGrpSpPr>
          <p:cNvPr id="89" name="Google Shape;89;p13"/>
          <p:cNvGrpSpPr/>
          <p:nvPr/>
        </p:nvGrpSpPr>
        <p:grpSpPr>
          <a:xfrm>
            <a:off x="-14748" y="986564"/>
            <a:ext cx="9158748" cy="5457236"/>
            <a:chOff x="-14748" y="986564"/>
            <a:chExt cx="9158748" cy="5457236"/>
          </a:xfrm>
        </p:grpSpPr>
        <p:sp>
          <p:nvSpPr>
            <p:cNvPr id="90" name="Google Shape;90;p13"/>
            <p:cNvSpPr txBox="1"/>
            <p:nvPr/>
          </p:nvSpPr>
          <p:spPr>
            <a:xfrm>
              <a:off x="177775" y="4812100"/>
              <a:ext cx="5566200" cy="163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chemeClr val="dk1"/>
                  </a:solidFill>
                  <a:latin typeface="Calibri"/>
                  <a:ea typeface="Calibri"/>
                  <a:cs typeface="Calibri"/>
                  <a:sym typeface="Calibri"/>
                </a:rPr>
                <a:t>Your Register No: 220701024</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Name:Amallesh.B</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Guide:Mrs.J.Jinu Sophia</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Designation:Assistant Professor(SG)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Department:Computer Science and Engineering</a:t>
              </a:r>
              <a:endParaRPr b="1" sz="2000">
                <a:solidFill>
                  <a:schemeClr val="dk1"/>
                </a:solidFill>
                <a:latin typeface="Calibri"/>
                <a:ea typeface="Calibri"/>
                <a:cs typeface="Calibri"/>
                <a:sym typeface="Calibri"/>
              </a:endParaRPr>
            </a:p>
          </p:txBody>
        </p:sp>
        <p:grpSp>
          <p:nvGrpSpPr>
            <p:cNvPr id="91" name="Google Shape;91;p13"/>
            <p:cNvGrpSpPr/>
            <p:nvPr/>
          </p:nvGrpSpPr>
          <p:grpSpPr>
            <a:xfrm>
              <a:off x="-14748" y="986564"/>
              <a:ext cx="9158748" cy="3628907"/>
              <a:chOff x="-14748" y="986564"/>
              <a:chExt cx="9158748" cy="3628907"/>
            </a:xfrm>
          </p:grpSpPr>
          <p:sp>
            <p:nvSpPr>
              <p:cNvPr id="92" name="Google Shape;92;p13"/>
              <p:cNvSpPr/>
              <p:nvPr/>
            </p:nvSpPr>
            <p:spPr>
              <a:xfrm>
                <a:off x="5003203" y="1761199"/>
                <a:ext cx="4140797" cy="2622445"/>
              </a:xfrm>
              <a:custGeom>
                <a:rect b="b" l="l" r="r" t="t"/>
                <a:pathLst>
                  <a:path extrusionOk="0" h="2622445" w="4140797">
                    <a:moveTo>
                      <a:pt x="1" y="0"/>
                    </a:moveTo>
                    <a:lnTo>
                      <a:pt x="4140797" y="0"/>
                    </a:lnTo>
                    <a:lnTo>
                      <a:pt x="4140797" y="2622445"/>
                    </a:lnTo>
                    <a:lnTo>
                      <a:pt x="0" y="2622445"/>
                    </a:lnTo>
                    <a:lnTo>
                      <a:pt x="1311223" y="1311222"/>
                    </a:lnTo>
                    <a:lnTo>
                      <a:pt x="1" y="0"/>
                    </a:lnTo>
                    <a:close/>
                  </a:path>
                </a:pathLst>
              </a:custGeom>
              <a:solidFill>
                <a:srgbClr val="00AAA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 name="Google Shape;93;p13"/>
              <p:cNvSpPr/>
              <p:nvPr/>
            </p:nvSpPr>
            <p:spPr>
              <a:xfrm>
                <a:off x="0" y="1529371"/>
                <a:ext cx="5743977" cy="3086100"/>
              </a:xfrm>
              <a:prstGeom prst="homePlate">
                <a:avLst>
                  <a:gd fmla="val 50000" name="adj"/>
                </a:avLst>
              </a:prstGeom>
              <a:solidFill>
                <a:srgbClr val="59595B"/>
              </a:solidFill>
              <a:ln cap="flat" cmpd="sng" w="25400">
                <a:solidFill>
                  <a:srgbClr val="59595B"/>
                </a:solidFill>
                <a:prstDash val="solid"/>
                <a:round/>
                <a:headEnd len="sm" w="sm" type="none"/>
                <a:tailEnd len="sm" w="sm" type="none"/>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4" name="Google Shape;94;p13"/>
              <p:cNvGrpSpPr/>
              <p:nvPr/>
            </p:nvGrpSpPr>
            <p:grpSpPr>
              <a:xfrm>
                <a:off x="-14748" y="986564"/>
                <a:ext cx="4014973" cy="1075928"/>
                <a:chOff x="-19391" y="1011603"/>
                <a:chExt cx="5278947" cy="1075928"/>
              </a:xfrm>
            </p:grpSpPr>
            <p:sp>
              <p:nvSpPr>
                <p:cNvPr id="95" name="Google Shape;95;p13"/>
                <p:cNvSpPr/>
                <p:nvPr/>
              </p:nvSpPr>
              <p:spPr>
                <a:xfrm>
                  <a:off x="-19391" y="1011603"/>
                  <a:ext cx="5278947" cy="1075928"/>
                </a:xfrm>
                <a:prstGeom prst="homePlate">
                  <a:avLst>
                    <a:gd fmla="val 50000" name="adj"/>
                  </a:avLst>
                </a:prstGeom>
                <a:solidFill>
                  <a:srgbClr val="00AAAD"/>
                </a:solidFill>
                <a:ln>
                  <a:noFill/>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 name="Google Shape;96;p13"/>
                <p:cNvSpPr txBox="1"/>
                <p:nvPr/>
              </p:nvSpPr>
              <p:spPr>
                <a:xfrm>
                  <a:off x="237041" y="1195624"/>
                  <a:ext cx="4181886" cy="707886"/>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chemeClr val="lt1"/>
                      </a:solidFill>
                      <a:latin typeface="Calibri"/>
                      <a:ea typeface="Calibri"/>
                      <a:cs typeface="Calibri"/>
                      <a:sym typeface="Calibri"/>
                    </a:rPr>
                    <a:t>Introduction to </a:t>
                  </a:r>
                  <a:endParaRPr/>
                </a:p>
                <a:p>
                  <a:pPr indent="0" lvl="0" marL="0" marR="0" rtl="0" algn="ctr">
                    <a:spcBef>
                      <a:spcPts val="0"/>
                    </a:spcBef>
                    <a:spcAft>
                      <a:spcPts val="0"/>
                    </a:spcAft>
                    <a:buNone/>
                  </a:pPr>
                  <a:r>
                    <a:rPr b="1" lang="en-US" sz="2000">
                      <a:solidFill>
                        <a:schemeClr val="lt1"/>
                      </a:solidFill>
                      <a:latin typeface="Calibri"/>
                      <a:ea typeface="Calibri"/>
                      <a:cs typeface="Calibri"/>
                      <a:sym typeface="Calibri"/>
                    </a:rPr>
                    <a:t>Robotic Process Automation </a:t>
                  </a:r>
                  <a:endParaRPr b="1" sz="2000">
                    <a:solidFill>
                      <a:schemeClr val="lt1"/>
                    </a:solidFill>
                    <a:latin typeface="Calibri"/>
                    <a:ea typeface="Calibri"/>
                    <a:cs typeface="Calibri"/>
                    <a:sym typeface="Calibri"/>
                  </a:endParaRPr>
                </a:p>
              </p:txBody>
            </p:sp>
          </p:grpSp>
          <p:sp>
            <p:nvSpPr>
              <p:cNvPr id="97" name="Google Shape;97;p13"/>
              <p:cNvSpPr txBox="1"/>
              <p:nvPr/>
            </p:nvSpPr>
            <p:spPr>
              <a:xfrm>
                <a:off x="177782" y="2100903"/>
                <a:ext cx="4188156"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5400">
                    <a:solidFill>
                      <a:schemeClr val="lt1"/>
                    </a:solidFill>
                    <a:latin typeface="Calibri"/>
                    <a:ea typeface="Calibri"/>
                    <a:cs typeface="Calibri"/>
                    <a:sym typeface="Calibri"/>
                  </a:rPr>
                  <a:t>Title of the Project</a:t>
                </a:r>
                <a:endParaRPr/>
              </a:p>
            </p:txBody>
          </p:sp>
          <p:sp>
            <p:nvSpPr>
              <p:cNvPr id="98" name="Google Shape;98;p13"/>
              <p:cNvSpPr/>
              <p:nvPr/>
            </p:nvSpPr>
            <p:spPr>
              <a:xfrm>
                <a:off x="4652237" y="1529372"/>
                <a:ext cx="1672363" cy="3086099"/>
              </a:xfrm>
              <a:custGeom>
                <a:rect b="b" l="l" r="r" t="t"/>
                <a:pathLst>
                  <a:path extrusionOk="0" h="3086099" w="1672363">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id="99" name="Google Shape;99;p13"/>
          <p:cNvPicPr preferRelativeResize="0"/>
          <p:nvPr/>
        </p:nvPicPr>
        <p:blipFill rotWithShape="1">
          <a:blip r:embed="rId4">
            <a:alphaModFix/>
          </a:blip>
          <a:srcRect b="0" l="0" r="0" t="0"/>
          <a:stretch/>
        </p:blipFill>
        <p:spPr>
          <a:xfrm>
            <a:off x="7128284" y="4441459"/>
            <a:ext cx="1813542" cy="15415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4"/>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Abstract</a:t>
            </a:r>
            <a:endParaRPr>
              <a:latin typeface="Calibri"/>
              <a:ea typeface="Calibri"/>
              <a:cs typeface="Calibri"/>
              <a:sym typeface="Calibri"/>
            </a:endParaRPr>
          </a:p>
        </p:txBody>
      </p:sp>
      <p:sp>
        <p:nvSpPr>
          <p:cNvPr id="106" name="Google Shape;106;p14"/>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14000"/>
              </a:lnSpc>
              <a:spcBef>
                <a:spcPts val="0"/>
              </a:spcBef>
              <a:spcAft>
                <a:spcPts val="0"/>
              </a:spcAft>
              <a:buNone/>
            </a:pPr>
            <a:r>
              <a:rPr lang="en-US"/>
              <a:t>The "Tour Planner" project is an innovative Robotic Process Automation (RPA) solution designed to simplify travel planning. This project leverages UiPath to gather and process key travel information efficiently. Users input their current location and desired tour destination through a dialog box. The system then automates the extraction of relevant information from a static website, including a description of the tour location, details of the top 10 attractions, notable aspects of the destination, and the distance between the current and tour locations. These data extraction processes run concurrently using the Parallel activity, ensuring efficiency and speed. The extracted information is compiled into a text or Word file, converted to PDF format, and sent to the user’s email via the SMTP Mail Message activity. This end-to-end automation significantly reduces manual effort, providing users with a comprehensive travel report in minimal time. The project exemplifies the potential of RPA in enhancing user experience and streamlining routine tasks..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5"/>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Need for the Proposed System</a:t>
            </a:r>
            <a:endParaRPr>
              <a:latin typeface="Calibri"/>
              <a:ea typeface="Calibri"/>
              <a:cs typeface="Calibri"/>
              <a:sym typeface="Calibri"/>
            </a:endParaRPr>
          </a:p>
        </p:txBody>
      </p:sp>
      <p:sp>
        <p:nvSpPr>
          <p:cNvPr id="113" name="Google Shape;113;p15"/>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700">
                <a:latin typeface="Arial"/>
                <a:ea typeface="Arial"/>
                <a:cs typeface="Arial"/>
                <a:sym typeface="Arial"/>
              </a:rPr>
              <a:t>Automation</a:t>
            </a:r>
            <a:r>
              <a:rPr lang="en-US" sz="1700">
                <a:latin typeface="Arial"/>
                <a:ea typeface="Arial"/>
                <a:cs typeface="Arial"/>
                <a:sym typeface="Arial"/>
              </a:rPr>
              <a:t>:</a:t>
            </a:r>
            <a:endParaRPr sz="1700">
              <a:latin typeface="Arial"/>
              <a:ea typeface="Arial"/>
              <a:cs typeface="Arial"/>
              <a:sym typeface="Arial"/>
            </a:endParaRPr>
          </a:p>
          <a:p>
            <a:pPr indent="0" lvl="0" marL="0" rtl="0" algn="l">
              <a:spcBef>
                <a:spcPts val="0"/>
              </a:spcBef>
              <a:spcAft>
                <a:spcPts val="0"/>
              </a:spcAft>
              <a:buNone/>
            </a:pPr>
            <a:r>
              <a:rPr lang="en-US" sz="1700">
                <a:latin typeface="Arial"/>
                <a:ea typeface="Arial"/>
                <a:cs typeface="Arial"/>
                <a:sym typeface="Arial"/>
              </a:rPr>
              <a:t>The proposed system automates the travel planning process, eliminating the need for manual research and data compilation. This saves time and reduces human effort.</a:t>
            </a:r>
            <a:endParaRPr b="1" sz="17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1700">
                <a:latin typeface="Arial"/>
                <a:ea typeface="Arial"/>
                <a:cs typeface="Arial"/>
                <a:sym typeface="Arial"/>
              </a:rPr>
              <a:t>Efficiency</a:t>
            </a:r>
            <a:r>
              <a:rPr lang="en-US" sz="1700">
                <a:latin typeface="Arial"/>
                <a:ea typeface="Arial"/>
                <a:cs typeface="Arial"/>
                <a:sym typeface="Arial"/>
              </a:rPr>
              <a:t>:</a:t>
            </a:r>
            <a:endParaRPr sz="1700">
              <a:latin typeface="Arial"/>
              <a:ea typeface="Arial"/>
              <a:cs typeface="Arial"/>
              <a:sym typeface="Arial"/>
            </a:endParaRPr>
          </a:p>
          <a:p>
            <a:pPr indent="0" lvl="0" marL="0" rtl="0" algn="l">
              <a:lnSpc>
                <a:spcPct val="114000"/>
              </a:lnSpc>
              <a:spcBef>
                <a:spcPts val="0"/>
              </a:spcBef>
              <a:spcAft>
                <a:spcPts val="0"/>
              </a:spcAft>
              <a:buNone/>
            </a:pPr>
            <a:r>
              <a:rPr lang="en-US" sz="1700">
                <a:latin typeface="Arial"/>
                <a:ea typeface="Arial"/>
                <a:cs typeface="Arial"/>
                <a:sym typeface="Arial"/>
              </a:rPr>
              <a:t>By using parallel processing, the system can extract multiple pieces of information (destination details, attractions, distances) simultaneously, making the process faster and more effective.</a:t>
            </a:r>
            <a:endParaRPr sz="17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1700">
                <a:latin typeface="Arial"/>
                <a:ea typeface="Arial"/>
                <a:cs typeface="Arial"/>
                <a:sym typeface="Arial"/>
              </a:rPr>
              <a:t>User Convenience</a:t>
            </a:r>
            <a:r>
              <a:rPr lang="en-US" sz="1700">
                <a:latin typeface="Arial"/>
                <a:ea typeface="Arial"/>
                <a:cs typeface="Arial"/>
                <a:sym typeface="Arial"/>
              </a:rPr>
              <a:t>:</a:t>
            </a:r>
            <a:endParaRPr sz="1700">
              <a:latin typeface="Arial"/>
              <a:ea typeface="Arial"/>
              <a:cs typeface="Arial"/>
              <a:sym typeface="Arial"/>
            </a:endParaRPr>
          </a:p>
          <a:p>
            <a:pPr indent="0" lvl="0" marL="0" rtl="0" algn="l">
              <a:lnSpc>
                <a:spcPct val="114000"/>
              </a:lnSpc>
              <a:spcBef>
                <a:spcPts val="0"/>
              </a:spcBef>
              <a:spcAft>
                <a:spcPts val="0"/>
              </a:spcAft>
              <a:buNone/>
            </a:pPr>
            <a:r>
              <a:rPr lang="en-US" sz="1700">
                <a:latin typeface="Arial"/>
                <a:ea typeface="Arial"/>
                <a:cs typeface="Arial"/>
                <a:sym typeface="Arial"/>
              </a:rPr>
              <a:t>The system provides users with a structured, easy-to-read PDF report containing all necessary travel details, delivered directly to their email. This improves user experience and accessibility.</a:t>
            </a:r>
            <a:endParaRPr sz="17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1700">
                <a:latin typeface="Arial"/>
                <a:ea typeface="Arial"/>
                <a:cs typeface="Arial"/>
                <a:sym typeface="Arial"/>
              </a:rPr>
              <a:t>Real-World Applicability</a:t>
            </a:r>
            <a:r>
              <a:rPr lang="en-US" sz="1700">
                <a:latin typeface="Arial"/>
                <a:ea typeface="Arial"/>
                <a:cs typeface="Arial"/>
                <a:sym typeface="Arial"/>
              </a:rPr>
              <a:t>:</a:t>
            </a:r>
            <a:endParaRPr sz="1700">
              <a:latin typeface="Arial"/>
              <a:ea typeface="Arial"/>
              <a:cs typeface="Arial"/>
              <a:sym typeface="Arial"/>
            </a:endParaRPr>
          </a:p>
          <a:p>
            <a:pPr indent="0" lvl="0" marL="0" rtl="0" algn="l">
              <a:lnSpc>
                <a:spcPct val="114000"/>
              </a:lnSpc>
              <a:spcBef>
                <a:spcPts val="0"/>
              </a:spcBef>
              <a:spcAft>
                <a:spcPts val="0"/>
              </a:spcAft>
              <a:buNone/>
            </a:pPr>
            <a:r>
              <a:rPr lang="en-US" sz="1700">
                <a:latin typeface="Arial"/>
                <a:ea typeface="Arial"/>
                <a:cs typeface="Arial"/>
                <a:sym typeface="Arial"/>
              </a:rPr>
              <a:t>The proposed system demonstrates practical applications of RPA in the travel industry, making it a valuable tool for businesses or individual users seeking efficient travel planning solutions.</a:t>
            </a:r>
            <a:endParaRPr sz="17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1700">
                <a:latin typeface="Arial"/>
                <a:ea typeface="Arial"/>
                <a:cs typeface="Arial"/>
                <a:sym typeface="Arial"/>
              </a:rPr>
              <a:t>Cost-Effectiveness</a:t>
            </a:r>
            <a:r>
              <a:rPr lang="en-US" sz="1700">
                <a:latin typeface="Arial"/>
                <a:ea typeface="Arial"/>
                <a:cs typeface="Arial"/>
                <a:sym typeface="Arial"/>
              </a:rPr>
              <a:t>:</a:t>
            </a:r>
            <a:endParaRPr sz="1700">
              <a:latin typeface="Arial"/>
              <a:ea typeface="Arial"/>
              <a:cs typeface="Arial"/>
              <a:sym typeface="Arial"/>
            </a:endParaRPr>
          </a:p>
          <a:p>
            <a:pPr indent="0" lvl="0" marL="0" rtl="0" algn="l">
              <a:lnSpc>
                <a:spcPct val="114000"/>
              </a:lnSpc>
              <a:spcBef>
                <a:spcPts val="0"/>
              </a:spcBef>
              <a:spcAft>
                <a:spcPts val="0"/>
              </a:spcAft>
              <a:buNone/>
            </a:pPr>
            <a:r>
              <a:rPr lang="en-US" sz="1700">
                <a:latin typeface="Arial"/>
                <a:ea typeface="Arial"/>
                <a:cs typeface="Arial"/>
                <a:sym typeface="Arial"/>
              </a:rPr>
              <a:t>By leveraging RPA, the system minimizes resource usage, as it doesn’t require extensive human intervention or additional tools for data extraction and processing.</a:t>
            </a:r>
            <a:endParaRPr sz="17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6"/>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Advantages of the Proposed System</a:t>
            </a:r>
            <a:endParaRPr>
              <a:latin typeface="Calibri"/>
              <a:ea typeface="Calibri"/>
              <a:cs typeface="Calibri"/>
              <a:sym typeface="Calibri"/>
            </a:endParaRPr>
          </a:p>
        </p:txBody>
      </p:sp>
      <p:sp>
        <p:nvSpPr>
          <p:cNvPr id="120" name="Google Shape;120;p16"/>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US"/>
              <a:t>The system automates travel planning, saving time and effort with precise and accurate data extraction.</a:t>
            </a:r>
            <a:endParaRPr/>
          </a:p>
          <a:p>
            <a:pPr indent="0" lvl="0" marL="0" rtl="0" algn="l">
              <a:spcBef>
                <a:spcPts val="0"/>
              </a:spcBef>
              <a:spcAft>
                <a:spcPts val="0"/>
              </a:spcAft>
              <a:buClr>
                <a:schemeClr val="dk1"/>
              </a:buClr>
              <a:buSzPts val="1100"/>
              <a:buFont typeface="Arial"/>
              <a:buNone/>
            </a:pPr>
            <a:r>
              <a:rPr lang="en-US"/>
              <a:t>Parallel processing ensures faster execution by handling multiple tasks simultaneously.</a:t>
            </a:r>
            <a:endParaRPr/>
          </a:p>
          <a:p>
            <a:pPr indent="0" lvl="0" marL="0" rtl="0" algn="l">
              <a:spcBef>
                <a:spcPts val="0"/>
              </a:spcBef>
              <a:spcAft>
                <a:spcPts val="0"/>
              </a:spcAft>
              <a:buClr>
                <a:schemeClr val="dk1"/>
              </a:buClr>
              <a:buSzPts val="1100"/>
              <a:buFont typeface="Arial"/>
              <a:buNone/>
            </a:pPr>
            <a:r>
              <a:rPr lang="en-US"/>
              <a:t>Users receive a professional, organized PDF report delivered directly to their email for convenience.</a:t>
            </a:r>
            <a:endParaRPr/>
          </a:p>
          <a:p>
            <a:pPr indent="0" lvl="0" marL="0" rtl="0" algn="l">
              <a:spcBef>
                <a:spcPts val="0"/>
              </a:spcBef>
              <a:spcAft>
                <a:spcPts val="0"/>
              </a:spcAft>
              <a:buClr>
                <a:schemeClr val="dk1"/>
              </a:buClr>
              <a:buSzPts val="1100"/>
              <a:buFont typeface="Arial"/>
              <a:buNone/>
            </a:pPr>
            <a:r>
              <a:rPr lang="en-US"/>
              <a:t>It is cost-effective, scalable, and adaptable to include additional destinations or data points.</a:t>
            </a:r>
            <a:endParaRPr/>
          </a:p>
          <a:p>
            <a:pPr indent="0" lvl="0" marL="0" rtl="0" algn="l">
              <a:spcBef>
                <a:spcPts val="0"/>
              </a:spcBef>
              <a:spcAft>
                <a:spcPts val="0"/>
              </a:spcAft>
              <a:buClr>
                <a:schemeClr val="dk1"/>
              </a:buClr>
              <a:buSzPts val="1100"/>
              <a:buFont typeface="Arial"/>
              <a:buNone/>
            </a:pPr>
            <a:r>
              <a:rPr lang="en-US"/>
              <a:t>The solution integrates automation seamlessly, enhancing user experience and demonstrating the practical application of RPA.</a:t>
            </a:r>
            <a:endParaRPr/>
          </a:p>
          <a:p>
            <a:pPr indent="0" lvl="0" marL="0" rtl="0" algn="l">
              <a:lnSpc>
                <a:spcPct val="114000"/>
              </a:lnSpc>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7"/>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Literature Survey</a:t>
            </a:r>
            <a:endParaRPr>
              <a:latin typeface="Calibri"/>
              <a:ea typeface="Calibri"/>
              <a:cs typeface="Calibri"/>
              <a:sym typeface="Calibri"/>
            </a:endParaRPr>
          </a:p>
        </p:txBody>
      </p:sp>
      <p:sp>
        <p:nvSpPr>
          <p:cNvPr id="127" name="Google Shape;127;p17"/>
          <p:cNvSpPr txBox="1"/>
          <p:nvPr>
            <p:ph idx="1" type="body"/>
          </p:nvPr>
        </p:nvSpPr>
        <p:spPr>
          <a:xfrm>
            <a:off x="190500" y="914400"/>
            <a:ext cx="8763000" cy="53340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5000"/>
              </a:lnSpc>
              <a:spcBef>
                <a:spcPts val="1200"/>
              </a:spcBef>
              <a:spcAft>
                <a:spcPts val="0"/>
              </a:spcAft>
              <a:buClr>
                <a:schemeClr val="dk1"/>
              </a:buClr>
              <a:buSzPts val="275"/>
              <a:buFont typeface="Arial"/>
              <a:buNone/>
            </a:pPr>
            <a:r>
              <a:rPr b="1" lang="en-US" sz="5743">
                <a:latin typeface="Arial"/>
                <a:ea typeface="Arial"/>
                <a:cs typeface="Arial"/>
                <a:sym typeface="Arial"/>
              </a:rPr>
              <a:t>Paper 1: "Robotic Process Automation in Data Collection and Report Generation"</a:t>
            </a:r>
            <a:endParaRPr b="1" sz="5743">
              <a:latin typeface="Arial"/>
              <a:ea typeface="Arial"/>
              <a:cs typeface="Arial"/>
              <a:sym typeface="Arial"/>
            </a:endParaRPr>
          </a:p>
          <a:p>
            <a:pPr indent="-319771" lvl="0" marL="457200" rtl="0" algn="l">
              <a:lnSpc>
                <a:spcPct val="115000"/>
              </a:lnSpc>
              <a:spcBef>
                <a:spcPts val="1200"/>
              </a:spcBef>
              <a:spcAft>
                <a:spcPts val="0"/>
              </a:spcAft>
              <a:buSzPct val="100000"/>
              <a:buFont typeface="Arial"/>
              <a:buChar char="●"/>
            </a:pPr>
            <a:r>
              <a:rPr b="1" lang="en-US" sz="5743">
                <a:latin typeface="Arial"/>
                <a:ea typeface="Arial"/>
                <a:cs typeface="Arial"/>
                <a:sym typeface="Arial"/>
              </a:rPr>
              <a:t>Advantages</a:t>
            </a:r>
            <a:r>
              <a:rPr lang="en-US" sz="5743">
                <a:latin typeface="Arial"/>
                <a:ea typeface="Arial"/>
                <a:cs typeface="Arial"/>
                <a:sym typeface="Arial"/>
              </a:rPr>
              <a:t>:</a:t>
            </a:r>
            <a:endParaRPr sz="5743">
              <a:latin typeface="Arial"/>
              <a:ea typeface="Arial"/>
              <a:cs typeface="Arial"/>
              <a:sym typeface="Arial"/>
            </a:endParaRPr>
          </a:p>
          <a:p>
            <a:pPr indent="-319771" lvl="1" marL="914400" rtl="0" algn="l">
              <a:lnSpc>
                <a:spcPct val="115000"/>
              </a:lnSpc>
              <a:spcBef>
                <a:spcPts val="0"/>
              </a:spcBef>
              <a:spcAft>
                <a:spcPts val="0"/>
              </a:spcAft>
              <a:buSzPct val="100000"/>
              <a:buAutoNum type="arabicPeriod"/>
            </a:pPr>
            <a:r>
              <a:rPr lang="en-US" sz="5743">
                <a:latin typeface="Arial"/>
                <a:ea typeface="Arial"/>
                <a:cs typeface="Arial"/>
                <a:sym typeface="Arial"/>
              </a:rPr>
              <a:t>Enhances operational efficiency by automating repetitive tasks like data collection and report preparation.</a:t>
            </a:r>
            <a:endParaRPr sz="5743">
              <a:latin typeface="Arial"/>
              <a:ea typeface="Arial"/>
              <a:cs typeface="Arial"/>
              <a:sym typeface="Arial"/>
            </a:endParaRPr>
          </a:p>
          <a:p>
            <a:pPr indent="-319771" lvl="1" marL="914400" rtl="0" algn="l">
              <a:lnSpc>
                <a:spcPct val="115000"/>
              </a:lnSpc>
              <a:spcBef>
                <a:spcPts val="0"/>
              </a:spcBef>
              <a:spcAft>
                <a:spcPts val="0"/>
              </a:spcAft>
              <a:buSzPct val="100000"/>
              <a:buAutoNum type="arabicPeriod"/>
            </a:pPr>
            <a:r>
              <a:rPr lang="en-US" sz="5743">
                <a:latin typeface="Arial"/>
                <a:ea typeface="Arial"/>
                <a:cs typeface="Arial"/>
                <a:sym typeface="Arial"/>
              </a:rPr>
              <a:t>Reduces human errors in data handling, ensuring accuracy and reliability in the generated reports.</a:t>
            </a:r>
            <a:endParaRPr sz="5743">
              <a:latin typeface="Arial"/>
              <a:ea typeface="Arial"/>
              <a:cs typeface="Arial"/>
              <a:sym typeface="Arial"/>
            </a:endParaRPr>
          </a:p>
          <a:p>
            <a:pPr indent="-319771" lvl="0" marL="457200" rtl="0" algn="l">
              <a:lnSpc>
                <a:spcPct val="115000"/>
              </a:lnSpc>
              <a:spcBef>
                <a:spcPts val="0"/>
              </a:spcBef>
              <a:spcAft>
                <a:spcPts val="0"/>
              </a:spcAft>
              <a:buSzPct val="100000"/>
              <a:buFont typeface="Arial"/>
              <a:buChar char="●"/>
            </a:pPr>
            <a:r>
              <a:rPr b="1" lang="en-US" sz="5743">
                <a:latin typeface="Arial"/>
                <a:ea typeface="Arial"/>
                <a:cs typeface="Arial"/>
                <a:sym typeface="Arial"/>
              </a:rPr>
              <a:t>Disadvantages</a:t>
            </a:r>
            <a:r>
              <a:rPr lang="en-US" sz="5743">
                <a:latin typeface="Arial"/>
                <a:ea typeface="Arial"/>
                <a:cs typeface="Arial"/>
                <a:sym typeface="Arial"/>
              </a:rPr>
              <a:t>:</a:t>
            </a:r>
            <a:endParaRPr sz="5743">
              <a:latin typeface="Arial"/>
              <a:ea typeface="Arial"/>
              <a:cs typeface="Arial"/>
              <a:sym typeface="Arial"/>
            </a:endParaRPr>
          </a:p>
          <a:p>
            <a:pPr indent="-319771" lvl="1" marL="914400" rtl="0" algn="l">
              <a:lnSpc>
                <a:spcPct val="115000"/>
              </a:lnSpc>
              <a:spcBef>
                <a:spcPts val="0"/>
              </a:spcBef>
              <a:spcAft>
                <a:spcPts val="0"/>
              </a:spcAft>
              <a:buSzPct val="100000"/>
              <a:buAutoNum type="arabicPeriod"/>
            </a:pPr>
            <a:r>
              <a:rPr lang="en-US" sz="5743">
                <a:latin typeface="Arial"/>
                <a:ea typeface="Arial"/>
                <a:cs typeface="Arial"/>
                <a:sym typeface="Arial"/>
              </a:rPr>
              <a:t>Limited to structured data sources, struggles with unstructured or semi-structured data formats.</a:t>
            </a:r>
            <a:endParaRPr sz="5743">
              <a:latin typeface="Arial"/>
              <a:ea typeface="Arial"/>
              <a:cs typeface="Arial"/>
              <a:sym typeface="Arial"/>
            </a:endParaRPr>
          </a:p>
          <a:p>
            <a:pPr indent="-319771" lvl="1" marL="914400" rtl="0" algn="l">
              <a:lnSpc>
                <a:spcPct val="115000"/>
              </a:lnSpc>
              <a:spcBef>
                <a:spcPts val="0"/>
              </a:spcBef>
              <a:spcAft>
                <a:spcPts val="0"/>
              </a:spcAft>
              <a:buSzPct val="100000"/>
              <a:buAutoNum type="arabicPeriod"/>
            </a:pPr>
            <a:r>
              <a:rPr lang="en-US" sz="5743">
                <a:latin typeface="Arial"/>
                <a:ea typeface="Arial"/>
                <a:cs typeface="Arial"/>
                <a:sym typeface="Arial"/>
              </a:rPr>
              <a:t>High initial setup cost and time for implementing and configuring RPA workflows</a:t>
            </a:r>
            <a:endParaRPr sz="5743">
              <a:latin typeface="Arial"/>
              <a:ea typeface="Arial"/>
              <a:cs typeface="Arial"/>
              <a:sym typeface="Arial"/>
            </a:endParaRPr>
          </a:p>
          <a:p>
            <a:pPr indent="0" lvl="0" marL="914400" rtl="0" algn="l">
              <a:lnSpc>
                <a:spcPct val="115000"/>
              </a:lnSpc>
              <a:spcBef>
                <a:spcPts val="1200"/>
              </a:spcBef>
              <a:spcAft>
                <a:spcPts val="0"/>
              </a:spcAft>
              <a:buNone/>
            </a:pPr>
            <a:r>
              <a:rPr lang="en-US" sz="5743">
                <a:latin typeface="Arial"/>
                <a:ea typeface="Arial"/>
                <a:cs typeface="Arial"/>
                <a:sym typeface="Arial"/>
              </a:rPr>
              <a:t>.</a:t>
            </a:r>
            <a:endParaRPr sz="5743">
              <a:latin typeface="Arial"/>
              <a:ea typeface="Arial"/>
              <a:cs typeface="Arial"/>
              <a:sym typeface="Arial"/>
            </a:endParaRPr>
          </a:p>
          <a:p>
            <a:pPr indent="0" lvl="0" marL="0" rtl="0" algn="l">
              <a:lnSpc>
                <a:spcPct val="115000"/>
              </a:lnSpc>
              <a:spcBef>
                <a:spcPts val="1200"/>
              </a:spcBef>
              <a:spcAft>
                <a:spcPts val="0"/>
              </a:spcAft>
              <a:buNone/>
            </a:pPr>
            <a:r>
              <a:rPr b="1" lang="en-US" sz="5743">
                <a:latin typeface="Arial"/>
                <a:ea typeface="Arial"/>
                <a:cs typeface="Arial"/>
                <a:sym typeface="Arial"/>
              </a:rPr>
              <a:t>Paper 2: "Applications of Web Scraping and Automation in Travel Planning"</a:t>
            </a:r>
            <a:endParaRPr b="1" sz="5743">
              <a:latin typeface="Arial"/>
              <a:ea typeface="Arial"/>
              <a:cs typeface="Arial"/>
              <a:sym typeface="Arial"/>
            </a:endParaRPr>
          </a:p>
          <a:p>
            <a:pPr indent="-319771" lvl="0" marL="457200" rtl="0" algn="l">
              <a:lnSpc>
                <a:spcPct val="115000"/>
              </a:lnSpc>
              <a:spcBef>
                <a:spcPts val="1200"/>
              </a:spcBef>
              <a:spcAft>
                <a:spcPts val="0"/>
              </a:spcAft>
              <a:buSzPct val="100000"/>
              <a:buFont typeface="Arial"/>
              <a:buChar char="●"/>
            </a:pPr>
            <a:r>
              <a:rPr b="1" lang="en-US" sz="5743">
                <a:latin typeface="Arial"/>
                <a:ea typeface="Arial"/>
                <a:cs typeface="Arial"/>
                <a:sym typeface="Arial"/>
              </a:rPr>
              <a:t>Advantages</a:t>
            </a:r>
            <a:r>
              <a:rPr lang="en-US" sz="5743">
                <a:latin typeface="Arial"/>
                <a:ea typeface="Arial"/>
                <a:cs typeface="Arial"/>
                <a:sym typeface="Arial"/>
              </a:rPr>
              <a:t>:</a:t>
            </a:r>
            <a:endParaRPr sz="5743">
              <a:latin typeface="Arial"/>
              <a:ea typeface="Arial"/>
              <a:cs typeface="Arial"/>
              <a:sym typeface="Arial"/>
            </a:endParaRPr>
          </a:p>
          <a:p>
            <a:pPr indent="-319771" lvl="1" marL="914400" rtl="0" algn="l">
              <a:lnSpc>
                <a:spcPct val="115000"/>
              </a:lnSpc>
              <a:spcBef>
                <a:spcPts val="0"/>
              </a:spcBef>
              <a:spcAft>
                <a:spcPts val="0"/>
              </a:spcAft>
              <a:buSzPct val="100000"/>
              <a:buAutoNum type="arabicPeriod"/>
            </a:pPr>
            <a:r>
              <a:rPr lang="en-US" sz="5743">
                <a:latin typeface="Arial"/>
                <a:ea typeface="Arial"/>
                <a:cs typeface="Arial"/>
                <a:sym typeface="Arial"/>
              </a:rPr>
              <a:t>Simplifies the travel planning process by extracting real-time data about destinations and attractions.</a:t>
            </a:r>
            <a:endParaRPr sz="5743">
              <a:latin typeface="Arial"/>
              <a:ea typeface="Arial"/>
              <a:cs typeface="Arial"/>
              <a:sym typeface="Arial"/>
            </a:endParaRPr>
          </a:p>
          <a:p>
            <a:pPr indent="-319771" lvl="1" marL="914400" rtl="0" algn="l">
              <a:lnSpc>
                <a:spcPct val="115000"/>
              </a:lnSpc>
              <a:spcBef>
                <a:spcPts val="0"/>
              </a:spcBef>
              <a:spcAft>
                <a:spcPts val="0"/>
              </a:spcAft>
              <a:buSzPct val="100000"/>
              <a:buAutoNum type="arabicPeriod"/>
            </a:pPr>
            <a:r>
              <a:rPr lang="en-US" sz="5743">
                <a:latin typeface="Arial"/>
                <a:ea typeface="Arial"/>
                <a:cs typeface="Arial"/>
                <a:sym typeface="Arial"/>
              </a:rPr>
              <a:t>Provides scalability to include additional features like live weather updates or route optimization.</a:t>
            </a:r>
            <a:endParaRPr sz="5743">
              <a:latin typeface="Arial"/>
              <a:ea typeface="Arial"/>
              <a:cs typeface="Arial"/>
              <a:sym typeface="Arial"/>
            </a:endParaRPr>
          </a:p>
          <a:p>
            <a:pPr indent="-319771" lvl="0" marL="457200" rtl="0" algn="l">
              <a:lnSpc>
                <a:spcPct val="115000"/>
              </a:lnSpc>
              <a:spcBef>
                <a:spcPts val="0"/>
              </a:spcBef>
              <a:spcAft>
                <a:spcPts val="0"/>
              </a:spcAft>
              <a:buSzPct val="100000"/>
              <a:buFont typeface="Arial"/>
              <a:buChar char="●"/>
            </a:pPr>
            <a:r>
              <a:rPr b="1" lang="en-US" sz="5743">
                <a:latin typeface="Arial"/>
                <a:ea typeface="Arial"/>
                <a:cs typeface="Arial"/>
                <a:sym typeface="Arial"/>
              </a:rPr>
              <a:t>Disadvantages</a:t>
            </a:r>
            <a:r>
              <a:rPr lang="en-US" sz="5743">
                <a:latin typeface="Arial"/>
                <a:ea typeface="Arial"/>
                <a:cs typeface="Arial"/>
                <a:sym typeface="Arial"/>
              </a:rPr>
              <a:t>:</a:t>
            </a:r>
            <a:endParaRPr sz="5743">
              <a:latin typeface="Arial"/>
              <a:ea typeface="Arial"/>
              <a:cs typeface="Arial"/>
              <a:sym typeface="Arial"/>
            </a:endParaRPr>
          </a:p>
          <a:p>
            <a:pPr indent="-319771" lvl="1" marL="914400" rtl="0" algn="l">
              <a:lnSpc>
                <a:spcPct val="115000"/>
              </a:lnSpc>
              <a:spcBef>
                <a:spcPts val="0"/>
              </a:spcBef>
              <a:spcAft>
                <a:spcPts val="0"/>
              </a:spcAft>
              <a:buSzPct val="100000"/>
              <a:buAutoNum type="arabicPeriod"/>
            </a:pPr>
            <a:r>
              <a:rPr lang="en-US" sz="5743">
                <a:latin typeface="Arial"/>
                <a:ea typeface="Arial"/>
                <a:cs typeface="Arial"/>
                <a:sym typeface="Arial"/>
              </a:rPr>
              <a:t>Web scraping is vulnerable to changes in website structure, requiring frequent updates to maintain functionality.</a:t>
            </a:r>
            <a:endParaRPr sz="5743">
              <a:latin typeface="Arial"/>
              <a:ea typeface="Arial"/>
              <a:cs typeface="Arial"/>
              <a:sym typeface="Arial"/>
            </a:endParaRPr>
          </a:p>
          <a:p>
            <a:pPr indent="-319771" lvl="1" marL="914400" rtl="0" algn="l">
              <a:lnSpc>
                <a:spcPct val="115000"/>
              </a:lnSpc>
              <a:spcBef>
                <a:spcPts val="0"/>
              </a:spcBef>
              <a:spcAft>
                <a:spcPts val="0"/>
              </a:spcAft>
              <a:buSzPct val="100000"/>
              <a:buAutoNum type="arabicPeriod"/>
            </a:pPr>
            <a:r>
              <a:rPr lang="en-US" sz="5743">
                <a:latin typeface="Arial"/>
                <a:ea typeface="Arial"/>
                <a:cs typeface="Arial"/>
                <a:sym typeface="Arial"/>
              </a:rPr>
              <a:t>Ethical concerns regarding scraping websites without explicit permissions, potentially violating terms of service.</a:t>
            </a:r>
            <a:endParaRPr sz="5743">
              <a:latin typeface="Arial"/>
              <a:ea typeface="Arial"/>
              <a:cs typeface="Arial"/>
              <a:sym typeface="Arial"/>
            </a:endParaRPr>
          </a:p>
          <a:p>
            <a:pPr indent="0" lvl="0" marL="0" rtl="0" algn="l">
              <a:lnSpc>
                <a:spcPct val="114000"/>
              </a:lnSpc>
              <a:spcBef>
                <a:spcPts val="1200"/>
              </a:spcBef>
              <a:spcAft>
                <a:spcPts val="0"/>
              </a:spcAft>
              <a:buNone/>
            </a:pPr>
            <a:r>
              <a:t/>
            </a:r>
            <a:endParaRPr/>
          </a:p>
          <a:p>
            <a:pPr indent="-190500" lvl="0" marL="342900" rtl="0" algn="l">
              <a:lnSpc>
                <a:spcPct val="114000"/>
              </a:lnSpc>
              <a:spcBef>
                <a:spcPts val="480"/>
              </a:spcBef>
              <a:spcAft>
                <a:spcPts val="0"/>
              </a:spcAft>
              <a:buClr>
                <a:schemeClr val="dk1"/>
              </a:buClr>
              <a:buSzPct val="100000"/>
              <a:buFont typeface="Noto Sans Symbols"/>
              <a:buNone/>
            </a:pPr>
            <a:r>
              <a:t/>
            </a:r>
            <a:endParaRPr/>
          </a:p>
          <a:p>
            <a:pPr indent="-190500" lvl="0" marL="342900" rtl="0" algn="l">
              <a:lnSpc>
                <a:spcPct val="114000"/>
              </a:lnSpc>
              <a:spcBef>
                <a:spcPts val="480"/>
              </a:spcBef>
              <a:spcAft>
                <a:spcPts val="0"/>
              </a:spcAft>
              <a:buClr>
                <a:schemeClr val="dk1"/>
              </a:buClr>
              <a:buSzPct val="100000"/>
              <a:buFont typeface="Noto Sans Symbols"/>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8"/>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Main Objective</a:t>
            </a:r>
            <a:endParaRPr>
              <a:latin typeface="Calibri"/>
              <a:ea typeface="Calibri"/>
              <a:cs typeface="Calibri"/>
              <a:sym typeface="Calibri"/>
            </a:endParaRPr>
          </a:p>
        </p:txBody>
      </p:sp>
      <p:sp>
        <p:nvSpPr>
          <p:cNvPr id="134" name="Google Shape;134;p18"/>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14000"/>
              </a:lnSpc>
              <a:spcBef>
                <a:spcPts val="0"/>
              </a:spcBef>
              <a:spcAft>
                <a:spcPts val="0"/>
              </a:spcAft>
              <a:buNone/>
            </a:pPr>
            <a:r>
              <a:rPr lang="en-US"/>
              <a:t>The main objective of the "Tour Planner" system is to automate the process of gathering and organizing travel-related information using Robotic Process Automation (RPA). It aims to provide users with accurate and detailed data about their desired tour destination, including descriptions, top attractions, and distances, in a timely and efficient manner. By utilizing parallel processing, the system optimizes the extraction of data from a static website. It compiles the gathered information into a structured format, converts it into a professional PDF report, and delivers it directly to the user via email. The system reduces manual effort, minimizes errors, and enhances user convenience. Additionally, it demonstrates the potential of RPA in real-world applications, particularly in travel planning. The project ensures scalability, efficiency, and user satisfaction by integrating advanced automation technologies into a cohesive workflow.</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9"/>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Architecture</a:t>
            </a:r>
            <a:endParaRPr>
              <a:latin typeface="Calibri"/>
              <a:ea typeface="Calibri"/>
              <a:cs typeface="Calibri"/>
              <a:sym typeface="Calibri"/>
            </a:endParaRPr>
          </a:p>
        </p:txBody>
      </p:sp>
      <p:sp>
        <p:nvSpPr>
          <p:cNvPr id="141" name="Google Shape;141;p19"/>
          <p:cNvSpPr txBox="1"/>
          <p:nvPr>
            <p:ph idx="1" type="body"/>
          </p:nvPr>
        </p:nvSpPr>
        <p:spPr>
          <a:xfrm>
            <a:off x="0" y="914400"/>
            <a:ext cx="8763000" cy="5334000"/>
          </a:xfrm>
          <a:prstGeom prst="rect">
            <a:avLst/>
          </a:prstGeom>
          <a:noFill/>
          <a:ln>
            <a:noFill/>
          </a:ln>
        </p:spPr>
        <p:txBody>
          <a:bodyPr anchorCtr="0" anchor="t" bIns="45700" lIns="91425" spcFirstLastPara="1" rIns="91425" wrap="square" tIns="45700">
            <a:normAutofit/>
          </a:bodyPr>
          <a:lstStyle/>
          <a:p>
            <a:pPr indent="0" lvl="0" marL="0" rtl="0" algn="l">
              <a:lnSpc>
                <a:spcPct val="114000"/>
              </a:lnSpc>
              <a:spcBef>
                <a:spcPts val="0"/>
              </a:spcBef>
              <a:spcAft>
                <a:spcPts val="0"/>
              </a:spcAft>
              <a:buNone/>
            </a:pPr>
            <a:r>
              <a:rPr lang="en-US"/>
              <a:t>Overallstructure</a:t>
            </a:r>
            <a:endParaRPr/>
          </a:p>
        </p:txBody>
      </p:sp>
      <p:pic>
        <p:nvPicPr>
          <p:cNvPr id="142" name="Google Shape;142;p19"/>
          <p:cNvPicPr preferRelativeResize="0"/>
          <p:nvPr/>
        </p:nvPicPr>
        <p:blipFill>
          <a:blip r:embed="rId3">
            <a:alphaModFix/>
          </a:blip>
          <a:stretch>
            <a:fillRect/>
          </a:stretch>
        </p:blipFill>
        <p:spPr>
          <a:xfrm>
            <a:off x="2692176" y="1037650"/>
            <a:ext cx="3938225" cy="54381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0"/>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System Requirements</a:t>
            </a:r>
            <a:endParaRPr>
              <a:latin typeface="Calibri"/>
              <a:ea typeface="Calibri"/>
              <a:cs typeface="Calibri"/>
              <a:sym typeface="Calibri"/>
            </a:endParaRPr>
          </a:p>
        </p:txBody>
      </p:sp>
      <p:sp>
        <p:nvSpPr>
          <p:cNvPr id="149" name="Google Shape;149;p20"/>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700">
                <a:latin typeface="Arial"/>
                <a:ea typeface="Arial"/>
                <a:cs typeface="Arial"/>
                <a:sym typeface="Arial"/>
              </a:rPr>
              <a:t>System Requirements for the "Tour Planner" Project</a:t>
            </a:r>
            <a:endParaRPr b="1" sz="17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500">
                <a:latin typeface="Arial"/>
                <a:ea typeface="Arial"/>
                <a:cs typeface="Arial"/>
                <a:sym typeface="Arial"/>
              </a:rPr>
              <a:t>1. Hardware Requirements</a:t>
            </a:r>
            <a:endParaRPr b="1" sz="1500">
              <a:latin typeface="Arial"/>
              <a:ea typeface="Arial"/>
              <a:cs typeface="Arial"/>
              <a:sym typeface="Arial"/>
            </a:endParaRPr>
          </a:p>
          <a:p>
            <a:pPr indent="-323850" lvl="0" marL="457200" rtl="0" algn="l">
              <a:lnSpc>
                <a:spcPct val="115000"/>
              </a:lnSpc>
              <a:spcBef>
                <a:spcPts val="1200"/>
              </a:spcBef>
              <a:spcAft>
                <a:spcPts val="0"/>
              </a:spcAft>
              <a:buSzPts val="1500"/>
              <a:buFont typeface="Arial"/>
              <a:buChar char="●"/>
            </a:pPr>
            <a:r>
              <a:rPr b="1" lang="en-US" sz="1500">
                <a:latin typeface="Arial"/>
                <a:ea typeface="Arial"/>
                <a:cs typeface="Arial"/>
                <a:sym typeface="Arial"/>
              </a:rPr>
              <a:t>Processor</a:t>
            </a:r>
            <a:r>
              <a:rPr lang="en-US" sz="1500">
                <a:latin typeface="Arial"/>
                <a:ea typeface="Arial"/>
                <a:cs typeface="Arial"/>
                <a:sym typeface="Arial"/>
              </a:rPr>
              <a:t>: Minimum Dual-Core, 2.5 GHz or higher (Recommended: Quad-Core).</a:t>
            </a:r>
            <a:endParaRPr sz="1500">
              <a:latin typeface="Arial"/>
              <a:ea typeface="Arial"/>
              <a:cs typeface="Arial"/>
              <a:sym typeface="Arial"/>
            </a:endParaRPr>
          </a:p>
          <a:p>
            <a:pPr indent="-323850" lvl="0" marL="457200" rtl="0" algn="l">
              <a:lnSpc>
                <a:spcPct val="115000"/>
              </a:lnSpc>
              <a:spcBef>
                <a:spcPts val="0"/>
              </a:spcBef>
              <a:spcAft>
                <a:spcPts val="0"/>
              </a:spcAft>
              <a:buSzPts val="1500"/>
              <a:buFont typeface="Arial"/>
              <a:buChar char="●"/>
            </a:pPr>
            <a:r>
              <a:rPr b="1" lang="en-US" sz="1500">
                <a:latin typeface="Arial"/>
                <a:ea typeface="Arial"/>
                <a:cs typeface="Arial"/>
                <a:sym typeface="Arial"/>
              </a:rPr>
              <a:t>RAM</a:t>
            </a:r>
            <a:r>
              <a:rPr lang="en-US" sz="1500">
                <a:latin typeface="Arial"/>
                <a:ea typeface="Arial"/>
                <a:cs typeface="Arial"/>
                <a:sym typeface="Arial"/>
              </a:rPr>
              <a:t>: Minimum 4 GB (Recommended: 8 GB or higher for faster execution).</a:t>
            </a:r>
            <a:endParaRPr sz="1500">
              <a:latin typeface="Arial"/>
              <a:ea typeface="Arial"/>
              <a:cs typeface="Arial"/>
              <a:sym typeface="Arial"/>
            </a:endParaRPr>
          </a:p>
          <a:p>
            <a:pPr indent="-323850" lvl="0" marL="457200" rtl="0" algn="l">
              <a:lnSpc>
                <a:spcPct val="115000"/>
              </a:lnSpc>
              <a:spcBef>
                <a:spcPts val="0"/>
              </a:spcBef>
              <a:spcAft>
                <a:spcPts val="0"/>
              </a:spcAft>
              <a:buSzPts val="1500"/>
              <a:buFont typeface="Arial"/>
              <a:buChar char="●"/>
            </a:pPr>
            <a:r>
              <a:rPr b="1" lang="en-US" sz="1500">
                <a:latin typeface="Arial"/>
                <a:ea typeface="Arial"/>
                <a:cs typeface="Arial"/>
                <a:sym typeface="Arial"/>
              </a:rPr>
              <a:t>Storage</a:t>
            </a:r>
            <a:r>
              <a:rPr lang="en-US" sz="1500">
                <a:latin typeface="Arial"/>
                <a:ea typeface="Arial"/>
                <a:cs typeface="Arial"/>
                <a:sym typeface="Arial"/>
              </a:rPr>
              <a:t>: At least 500 MB of free space for storing application files and temporary data.</a:t>
            </a:r>
            <a:endParaRPr sz="1500">
              <a:latin typeface="Arial"/>
              <a:ea typeface="Arial"/>
              <a:cs typeface="Arial"/>
              <a:sym typeface="Arial"/>
            </a:endParaRPr>
          </a:p>
          <a:p>
            <a:pPr indent="-323850" lvl="0" marL="457200" rtl="0" algn="l">
              <a:lnSpc>
                <a:spcPct val="115000"/>
              </a:lnSpc>
              <a:spcBef>
                <a:spcPts val="0"/>
              </a:spcBef>
              <a:spcAft>
                <a:spcPts val="0"/>
              </a:spcAft>
              <a:buSzPts val="1500"/>
              <a:buFont typeface="Arial"/>
              <a:buChar char="●"/>
            </a:pPr>
            <a:r>
              <a:rPr b="1" lang="en-US" sz="1500">
                <a:latin typeface="Arial"/>
                <a:ea typeface="Arial"/>
                <a:cs typeface="Arial"/>
                <a:sym typeface="Arial"/>
              </a:rPr>
              <a:t>Display</a:t>
            </a:r>
            <a:r>
              <a:rPr lang="en-US" sz="1500">
                <a:latin typeface="Arial"/>
                <a:ea typeface="Arial"/>
                <a:cs typeface="Arial"/>
                <a:sym typeface="Arial"/>
              </a:rPr>
              <a:t>: Minimum resolution of 1024x768 pixels.</a:t>
            </a:r>
            <a:endParaRPr sz="1500">
              <a:latin typeface="Arial"/>
              <a:ea typeface="Arial"/>
              <a:cs typeface="Arial"/>
              <a:sym typeface="Arial"/>
            </a:endParaRPr>
          </a:p>
          <a:p>
            <a:pPr indent="-323850" lvl="0" marL="457200" rtl="0" algn="l">
              <a:lnSpc>
                <a:spcPct val="115000"/>
              </a:lnSpc>
              <a:spcBef>
                <a:spcPts val="0"/>
              </a:spcBef>
              <a:spcAft>
                <a:spcPts val="0"/>
              </a:spcAft>
              <a:buSzPts val="1500"/>
              <a:buFont typeface="Arial"/>
              <a:buChar char="●"/>
            </a:pPr>
            <a:r>
              <a:rPr b="1" lang="en-US" sz="1500">
                <a:latin typeface="Arial"/>
                <a:ea typeface="Arial"/>
                <a:cs typeface="Arial"/>
                <a:sym typeface="Arial"/>
              </a:rPr>
              <a:t>Network</a:t>
            </a:r>
            <a:r>
              <a:rPr lang="en-US" sz="1500">
                <a:latin typeface="Arial"/>
                <a:ea typeface="Arial"/>
                <a:cs typeface="Arial"/>
                <a:sym typeface="Arial"/>
              </a:rPr>
              <a:t>: Stable internet connection for web scraping and email delivery.</a:t>
            </a:r>
            <a:endParaRPr sz="15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500">
                <a:latin typeface="Arial"/>
                <a:ea typeface="Arial"/>
                <a:cs typeface="Arial"/>
                <a:sym typeface="Arial"/>
              </a:rPr>
              <a:t>2. Software Requirements</a:t>
            </a:r>
            <a:endParaRPr b="1" sz="1500">
              <a:latin typeface="Arial"/>
              <a:ea typeface="Arial"/>
              <a:cs typeface="Arial"/>
              <a:sym typeface="Arial"/>
            </a:endParaRPr>
          </a:p>
          <a:p>
            <a:pPr indent="-323850" lvl="0" marL="457200" rtl="0" algn="l">
              <a:lnSpc>
                <a:spcPct val="115000"/>
              </a:lnSpc>
              <a:spcBef>
                <a:spcPts val="1200"/>
              </a:spcBef>
              <a:spcAft>
                <a:spcPts val="0"/>
              </a:spcAft>
              <a:buSzPts val="1500"/>
              <a:buFont typeface="Arial"/>
              <a:buChar char="●"/>
            </a:pPr>
            <a:r>
              <a:rPr b="1" lang="en-US" sz="1500">
                <a:latin typeface="Arial"/>
                <a:ea typeface="Arial"/>
                <a:cs typeface="Arial"/>
                <a:sym typeface="Arial"/>
              </a:rPr>
              <a:t>Operating System</a:t>
            </a:r>
            <a:r>
              <a:rPr lang="en-US" sz="1500">
                <a:latin typeface="Arial"/>
                <a:ea typeface="Arial"/>
                <a:cs typeface="Arial"/>
                <a:sym typeface="Arial"/>
              </a:rPr>
              <a:t>: Windows 10/11, macOS, or Linux (any modern OS that supports RPA tools).</a:t>
            </a:r>
            <a:endParaRPr sz="1500">
              <a:latin typeface="Arial"/>
              <a:ea typeface="Arial"/>
              <a:cs typeface="Arial"/>
              <a:sym typeface="Arial"/>
            </a:endParaRPr>
          </a:p>
          <a:p>
            <a:pPr indent="-323850" lvl="0" marL="457200" rtl="0" algn="l">
              <a:lnSpc>
                <a:spcPct val="115000"/>
              </a:lnSpc>
              <a:spcBef>
                <a:spcPts val="0"/>
              </a:spcBef>
              <a:spcAft>
                <a:spcPts val="0"/>
              </a:spcAft>
              <a:buSzPts val="1500"/>
              <a:buFont typeface="Arial"/>
              <a:buChar char="●"/>
            </a:pPr>
            <a:r>
              <a:rPr b="1" lang="en-US" sz="1500">
                <a:latin typeface="Arial"/>
                <a:ea typeface="Arial"/>
                <a:cs typeface="Arial"/>
                <a:sym typeface="Arial"/>
              </a:rPr>
              <a:t>Programming Environment</a:t>
            </a:r>
            <a:r>
              <a:rPr lang="en-US" sz="1500">
                <a:latin typeface="Arial"/>
                <a:ea typeface="Arial"/>
                <a:cs typeface="Arial"/>
                <a:sym typeface="Arial"/>
              </a:rPr>
              <a:t>: Python 3.7+ for script development.</a:t>
            </a:r>
            <a:endParaRPr sz="1500">
              <a:latin typeface="Arial"/>
              <a:ea typeface="Arial"/>
              <a:cs typeface="Arial"/>
              <a:sym typeface="Arial"/>
            </a:endParaRPr>
          </a:p>
          <a:p>
            <a:pPr indent="-323850" lvl="0" marL="457200" rtl="0" algn="l">
              <a:lnSpc>
                <a:spcPct val="115000"/>
              </a:lnSpc>
              <a:spcBef>
                <a:spcPts val="0"/>
              </a:spcBef>
              <a:spcAft>
                <a:spcPts val="0"/>
              </a:spcAft>
              <a:buSzPts val="1500"/>
              <a:buFont typeface="Arial"/>
              <a:buChar char="●"/>
            </a:pPr>
            <a:r>
              <a:rPr b="1" lang="en-US" sz="1500">
                <a:latin typeface="Arial"/>
                <a:ea typeface="Arial"/>
                <a:cs typeface="Arial"/>
                <a:sym typeface="Arial"/>
              </a:rPr>
              <a:t>Libraries/Packages</a:t>
            </a:r>
            <a:r>
              <a:rPr lang="en-US" sz="1500">
                <a:latin typeface="Arial"/>
                <a:ea typeface="Arial"/>
                <a:cs typeface="Arial"/>
                <a:sym typeface="Arial"/>
              </a:rPr>
              <a:t>:</a:t>
            </a:r>
            <a:endParaRPr sz="1500">
              <a:latin typeface="Arial"/>
              <a:ea typeface="Arial"/>
              <a:cs typeface="Arial"/>
              <a:sym typeface="Arial"/>
            </a:endParaRPr>
          </a:p>
          <a:p>
            <a:pPr indent="-323850" lvl="1" marL="914400" rtl="0" algn="l">
              <a:lnSpc>
                <a:spcPct val="115000"/>
              </a:lnSpc>
              <a:spcBef>
                <a:spcPts val="0"/>
              </a:spcBef>
              <a:spcAft>
                <a:spcPts val="0"/>
              </a:spcAft>
              <a:buSzPts val="1500"/>
              <a:buChar char="○"/>
            </a:pPr>
            <a:r>
              <a:rPr lang="en-US" sz="1500">
                <a:latin typeface="Arial"/>
                <a:ea typeface="Arial"/>
                <a:cs typeface="Arial"/>
                <a:sym typeface="Arial"/>
              </a:rPr>
              <a:t>Selenium (for web scraping).</a:t>
            </a:r>
            <a:endParaRPr sz="1500">
              <a:latin typeface="Arial"/>
              <a:ea typeface="Arial"/>
              <a:cs typeface="Arial"/>
              <a:sym typeface="Arial"/>
            </a:endParaRPr>
          </a:p>
          <a:p>
            <a:pPr indent="-323850" lvl="1" marL="914400" rtl="0" algn="l">
              <a:lnSpc>
                <a:spcPct val="115000"/>
              </a:lnSpc>
              <a:spcBef>
                <a:spcPts val="0"/>
              </a:spcBef>
              <a:spcAft>
                <a:spcPts val="0"/>
              </a:spcAft>
              <a:buSzPts val="1500"/>
              <a:buChar char="○"/>
            </a:pPr>
            <a:r>
              <a:rPr lang="en-US" sz="1500">
                <a:latin typeface="Arial"/>
                <a:ea typeface="Arial"/>
                <a:cs typeface="Arial"/>
                <a:sym typeface="Arial"/>
              </a:rPr>
              <a:t>PyPDF2 or FPDF (for PDF generation).</a:t>
            </a:r>
            <a:endParaRPr sz="1500">
              <a:latin typeface="Arial"/>
              <a:ea typeface="Arial"/>
              <a:cs typeface="Arial"/>
              <a:sym typeface="Arial"/>
            </a:endParaRPr>
          </a:p>
          <a:p>
            <a:pPr indent="-323850" lvl="1" marL="914400" rtl="0" algn="l">
              <a:lnSpc>
                <a:spcPct val="115000"/>
              </a:lnSpc>
              <a:spcBef>
                <a:spcPts val="0"/>
              </a:spcBef>
              <a:spcAft>
                <a:spcPts val="0"/>
              </a:spcAft>
              <a:buSzPts val="1500"/>
              <a:buChar char="○"/>
            </a:pPr>
            <a:r>
              <a:rPr lang="en-US" sz="1500">
                <a:latin typeface="Arial"/>
                <a:ea typeface="Arial"/>
                <a:cs typeface="Arial"/>
                <a:sym typeface="Arial"/>
              </a:rPr>
              <a:t>smtplib (for email automation).</a:t>
            </a:r>
            <a:endParaRPr sz="1500">
              <a:latin typeface="Arial"/>
              <a:ea typeface="Arial"/>
              <a:cs typeface="Arial"/>
              <a:sym typeface="Arial"/>
            </a:endParaRPr>
          </a:p>
          <a:p>
            <a:pPr indent="-323850" lvl="0" marL="457200" rtl="0" algn="l">
              <a:lnSpc>
                <a:spcPct val="115000"/>
              </a:lnSpc>
              <a:spcBef>
                <a:spcPts val="0"/>
              </a:spcBef>
              <a:spcAft>
                <a:spcPts val="0"/>
              </a:spcAft>
              <a:buSzPts val="1500"/>
              <a:buFont typeface="Arial"/>
              <a:buChar char="●"/>
            </a:pPr>
            <a:r>
              <a:rPr b="1" lang="en-US" sz="1500">
                <a:latin typeface="Arial"/>
                <a:ea typeface="Arial"/>
                <a:cs typeface="Arial"/>
                <a:sym typeface="Arial"/>
              </a:rPr>
              <a:t>RPA Tool</a:t>
            </a:r>
            <a:r>
              <a:rPr lang="en-US" sz="1500">
                <a:latin typeface="Arial"/>
                <a:ea typeface="Arial"/>
                <a:cs typeface="Arial"/>
                <a:sym typeface="Arial"/>
              </a:rPr>
              <a:t>: UiPath or any similar automation tool for workflow orchestration.</a:t>
            </a:r>
            <a:endParaRPr sz="1500">
              <a:latin typeface="Arial"/>
              <a:ea typeface="Arial"/>
              <a:cs typeface="Arial"/>
              <a:sym typeface="Arial"/>
            </a:endParaRPr>
          </a:p>
          <a:p>
            <a:pPr indent="-323850" lvl="0" marL="457200" rtl="0" algn="l">
              <a:lnSpc>
                <a:spcPct val="115000"/>
              </a:lnSpc>
              <a:spcBef>
                <a:spcPts val="0"/>
              </a:spcBef>
              <a:spcAft>
                <a:spcPts val="0"/>
              </a:spcAft>
              <a:buSzPts val="1500"/>
              <a:buFont typeface="Arial"/>
              <a:buChar char="●"/>
            </a:pPr>
            <a:r>
              <a:rPr b="1" lang="en-US" sz="1500">
                <a:latin typeface="Arial"/>
                <a:ea typeface="Arial"/>
                <a:cs typeface="Arial"/>
                <a:sym typeface="Arial"/>
              </a:rPr>
              <a:t>Browser</a:t>
            </a:r>
            <a:r>
              <a:rPr lang="en-US" sz="1500">
                <a:latin typeface="Arial"/>
                <a:ea typeface="Arial"/>
                <a:cs typeface="Arial"/>
                <a:sym typeface="Arial"/>
              </a:rPr>
              <a:t>: Google Chrome, Firefox, or equivalent for web scraping activities.</a:t>
            </a:r>
            <a:endParaRPr sz="1500">
              <a:latin typeface="Arial"/>
              <a:ea typeface="Arial"/>
              <a:cs typeface="Arial"/>
              <a:sym typeface="Arial"/>
            </a:endParaRPr>
          </a:p>
          <a:p>
            <a:pPr indent="-323850" lvl="0" marL="457200" rtl="0" algn="l">
              <a:lnSpc>
                <a:spcPct val="115000"/>
              </a:lnSpc>
              <a:spcBef>
                <a:spcPts val="0"/>
              </a:spcBef>
              <a:spcAft>
                <a:spcPts val="0"/>
              </a:spcAft>
              <a:buSzPts val="1500"/>
              <a:buFont typeface="Arial"/>
              <a:buChar char="●"/>
            </a:pPr>
            <a:r>
              <a:rPr b="1" lang="en-US" sz="1500">
                <a:latin typeface="Arial"/>
                <a:ea typeface="Arial"/>
                <a:cs typeface="Arial"/>
                <a:sym typeface="Arial"/>
              </a:rPr>
              <a:t>Email Server</a:t>
            </a:r>
            <a:r>
              <a:rPr lang="en-US" sz="1500">
                <a:latin typeface="Arial"/>
                <a:ea typeface="Arial"/>
                <a:cs typeface="Arial"/>
                <a:sym typeface="Arial"/>
              </a:rPr>
              <a:t>: SMTP-compatible server (e.g., Gmail SMTP).</a:t>
            </a:r>
            <a:endParaRPr sz="1500">
              <a:latin typeface="Arial"/>
              <a:ea typeface="Arial"/>
              <a:cs typeface="Arial"/>
              <a:sym typeface="Arial"/>
            </a:endParaRPr>
          </a:p>
          <a:p>
            <a:pPr indent="0" lvl="0" marL="0" rtl="0" algn="l">
              <a:lnSpc>
                <a:spcPct val="114000"/>
              </a:lnSpc>
              <a:spcBef>
                <a:spcPts val="120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1"/>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Functional Description</a:t>
            </a:r>
            <a:endParaRPr>
              <a:latin typeface="Calibri"/>
              <a:ea typeface="Calibri"/>
              <a:cs typeface="Calibri"/>
              <a:sym typeface="Calibri"/>
            </a:endParaRPr>
          </a:p>
        </p:txBody>
      </p:sp>
      <p:sp>
        <p:nvSpPr>
          <p:cNvPr id="156" name="Google Shape;156;p21"/>
          <p:cNvSpPr txBox="1"/>
          <p:nvPr>
            <p:ph idx="1" type="body"/>
          </p:nvPr>
        </p:nvSpPr>
        <p:spPr>
          <a:xfrm>
            <a:off x="437900" y="1223000"/>
            <a:ext cx="8763000" cy="5334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US" sz="900">
                <a:latin typeface="Arial"/>
                <a:ea typeface="Arial"/>
                <a:cs typeface="Arial"/>
                <a:sym typeface="Arial"/>
              </a:rPr>
              <a:t>I</a:t>
            </a:r>
            <a:r>
              <a:rPr b="1" lang="en-US" sz="2100">
                <a:latin typeface="Arial"/>
                <a:ea typeface="Arial"/>
                <a:cs typeface="Arial"/>
                <a:sym typeface="Arial"/>
              </a:rPr>
              <a:t>Input Module</a:t>
            </a:r>
            <a:r>
              <a:rPr lang="en-US" sz="2100">
                <a:latin typeface="Arial"/>
                <a:ea typeface="Arial"/>
                <a:cs typeface="Arial"/>
                <a:sym typeface="Arial"/>
              </a:rPr>
              <a:t>: Collects user inputs for current location and desired tour destination through a dialog box.</a:t>
            </a:r>
            <a:endParaRPr sz="2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2100">
                <a:latin typeface="Arial"/>
                <a:ea typeface="Arial"/>
                <a:cs typeface="Arial"/>
                <a:sym typeface="Arial"/>
              </a:rPr>
              <a:t>Web Scraping Module</a:t>
            </a:r>
            <a:r>
              <a:rPr lang="en-US" sz="2100">
                <a:latin typeface="Arial"/>
                <a:ea typeface="Arial"/>
                <a:cs typeface="Arial"/>
                <a:sym typeface="Arial"/>
              </a:rPr>
              <a:t>: Extracts destination descriptions, top attractions, and distances from a static website.</a:t>
            </a:r>
            <a:endParaRPr sz="2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2100">
                <a:latin typeface="Arial"/>
                <a:ea typeface="Arial"/>
                <a:cs typeface="Arial"/>
                <a:sym typeface="Arial"/>
              </a:rPr>
              <a:t>Parallel Processing Module</a:t>
            </a:r>
            <a:r>
              <a:rPr lang="en-US" sz="2100">
                <a:latin typeface="Arial"/>
                <a:ea typeface="Arial"/>
                <a:cs typeface="Arial"/>
                <a:sym typeface="Arial"/>
              </a:rPr>
              <a:t>: Handles simultaneous data extraction tasks to optimize processing time.</a:t>
            </a:r>
            <a:endParaRPr sz="2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2100">
                <a:latin typeface="Arial"/>
                <a:ea typeface="Arial"/>
                <a:cs typeface="Arial"/>
                <a:sym typeface="Arial"/>
              </a:rPr>
              <a:t>Report Generation Module</a:t>
            </a:r>
            <a:r>
              <a:rPr lang="en-US" sz="2100">
                <a:latin typeface="Arial"/>
                <a:ea typeface="Arial"/>
                <a:cs typeface="Arial"/>
                <a:sym typeface="Arial"/>
              </a:rPr>
              <a:t>: Compiles the extracted data into a structured document and converts it into a PDF.</a:t>
            </a:r>
            <a:endParaRPr sz="2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2100">
                <a:latin typeface="Arial"/>
                <a:ea typeface="Arial"/>
                <a:cs typeface="Arial"/>
                <a:sym typeface="Arial"/>
              </a:rPr>
              <a:t>Email Delivery Module</a:t>
            </a:r>
            <a:r>
              <a:rPr lang="en-US" sz="2100">
                <a:latin typeface="Arial"/>
                <a:ea typeface="Arial"/>
                <a:cs typeface="Arial"/>
                <a:sym typeface="Arial"/>
              </a:rPr>
              <a:t>: Sends the generated PDF report to the user’s email using an SMTP mail server</a:t>
            </a:r>
            <a:r>
              <a:rPr lang="en-US" sz="3400">
                <a:latin typeface="Arial"/>
                <a:ea typeface="Arial"/>
                <a:cs typeface="Arial"/>
                <a:sym typeface="Arial"/>
              </a:rPr>
              <a:t>.</a:t>
            </a:r>
            <a:endParaRPr sz="3400">
              <a:latin typeface="Arial"/>
              <a:ea typeface="Arial"/>
              <a:cs typeface="Arial"/>
              <a:sym typeface="Arial"/>
            </a:endParaRPr>
          </a:p>
          <a:p>
            <a:pPr indent="0" lvl="0" marL="0" rtl="0" algn="l">
              <a:lnSpc>
                <a:spcPct val="114000"/>
              </a:lnSpc>
              <a:spcBef>
                <a:spcPts val="0"/>
              </a:spcBef>
              <a:spcAft>
                <a:spcPts val="0"/>
              </a:spcAft>
              <a:buNone/>
            </a:pPr>
            <a:r>
              <a:t/>
            </a:r>
            <a:endParaRPr/>
          </a:p>
          <a:p>
            <a:pPr indent="-190500" lvl="0" marL="342900" rtl="0" algn="l">
              <a:lnSpc>
                <a:spcPct val="114000"/>
              </a:lnSpc>
              <a:spcBef>
                <a:spcPts val="480"/>
              </a:spcBef>
              <a:spcAft>
                <a:spcPts val="0"/>
              </a:spcAft>
              <a:buClr>
                <a:schemeClr val="dk1"/>
              </a:buClr>
              <a:buSzPts val="2400"/>
              <a:buFont typeface="Noto Sans Symbols"/>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2"/>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Table Design</a:t>
            </a:r>
            <a:endParaRPr>
              <a:latin typeface="Calibri"/>
              <a:ea typeface="Calibri"/>
              <a:cs typeface="Calibri"/>
              <a:sym typeface="Calibri"/>
            </a:endParaRPr>
          </a:p>
        </p:txBody>
      </p:sp>
      <p:sp>
        <p:nvSpPr>
          <p:cNvPr id="163" name="Google Shape;163;p22"/>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342900" rtl="0" algn="l">
              <a:lnSpc>
                <a:spcPct val="114000"/>
              </a:lnSpc>
              <a:spcBef>
                <a:spcPts val="0"/>
              </a:spcBef>
              <a:spcAft>
                <a:spcPts val="0"/>
              </a:spcAft>
              <a:buNone/>
            </a:pPr>
            <a:r>
              <a:rPr lang="en-US"/>
              <a:t>ER Diagram</a:t>
            </a:r>
            <a:endParaRPr/>
          </a:p>
        </p:txBody>
      </p:sp>
      <p:pic>
        <p:nvPicPr>
          <p:cNvPr id="164" name="Google Shape;164;p22"/>
          <p:cNvPicPr preferRelativeResize="0"/>
          <p:nvPr/>
        </p:nvPicPr>
        <p:blipFill>
          <a:blip r:embed="rId3">
            <a:alphaModFix/>
          </a:blip>
          <a:stretch>
            <a:fillRect/>
          </a:stretch>
        </p:blipFill>
        <p:spPr>
          <a:xfrm>
            <a:off x="4283750" y="914400"/>
            <a:ext cx="2082226" cy="565575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3"/>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Process Design</a:t>
            </a:r>
            <a:endParaRPr>
              <a:latin typeface="Calibri"/>
              <a:ea typeface="Calibri"/>
              <a:cs typeface="Calibri"/>
              <a:sym typeface="Calibri"/>
            </a:endParaRPr>
          </a:p>
        </p:txBody>
      </p:sp>
      <p:sp>
        <p:nvSpPr>
          <p:cNvPr id="171" name="Google Shape;171;p23"/>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1100"/>
              <a:buFont typeface="Arial"/>
              <a:buNone/>
            </a:pPr>
            <a:r>
              <a:rPr b="1" lang="en-US" sz="2200">
                <a:latin typeface="Arial"/>
                <a:ea typeface="Arial"/>
                <a:cs typeface="Arial"/>
                <a:sym typeface="Arial"/>
              </a:rPr>
              <a:t>Input Collection</a:t>
            </a:r>
            <a:r>
              <a:rPr lang="en-US" sz="2200">
                <a:latin typeface="Arial"/>
                <a:ea typeface="Arial"/>
                <a:cs typeface="Arial"/>
                <a:sym typeface="Arial"/>
              </a:rPr>
              <a:t>: The user inputs their current location and desired tour destination through an input dialog box.</a:t>
            </a:r>
            <a:endParaRPr sz="2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2200">
                <a:latin typeface="Arial"/>
                <a:ea typeface="Arial"/>
                <a:cs typeface="Arial"/>
                <a:sym typeface="Arial"/>
              </a:rPr>
              <a:t>Web Scraping</a:t>
            </a:r>
            <a:r>
              <a:rPr lang="en-US" sz="2200">
                <a:latin typeface="Arial"/>
                <a:ea typeface="Arial"/>
                <a:cs typeface="Arial"/>
                <a:sym typeface="Arial"/>
              </a:rPr>
              <a:t>: The system navigates to a static website and extracts data such as destination descriptions, top attractions, and distances.</a:t>
            </a:r>
            <a:endParaRPr sz="2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2200">
                <a:latin typeface="Arial"/>
                <a:ea typeface="Arial"/>
                <a:cs typeface="Arial"/>
                <a:sym typeface="Arial"/>
              </a:rPr>
              <a:t>Parallel Processing</a:t>
            </a:r>
            <a:r>
              <a:rPr lang="en-US" sz="2200">
                <a:latin typeface="Arial"/>
                <a:ea typeface="Arial"/>
                <a:cs typeface="Arial"/>
                <a:sym typeface="Arial"/>
              </a:rPr>
              <a:t>: All data extraction tasks run simultaneously to optimize processing time and improve efficiency.</a:t>
            </a:r>
            <a:endParaRPr sz="2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2200">
                <a:latin typeface="Arial"/>
                <a:ea typeface="Arial"/>
                <a:cs typeface="Arial"/>
                <a:sym typeface="Arial"/>
              </a:rPr>
              <a:t>Data Compilation</a:t>
            </a:r>
            <a:r>
              <a:rPr lang="en-US" sz="2200">
                <a:latin typeface="Arial"/>
                <a:ea typeface="Arial"/>
                <a:cs typeface="Arial"/>
                <a:sym typeface="Arial"/>
              </a:rPr>
              <a:t>: The extracted information is aggregated into a structured format and saved as a text or Word file.</a:t>
            </a:r>
            <a:endParaRPr sz="2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2200">
                <a:latin typeface="Arial"/>
                <a:ea typeface="Arial"/>
                <a:cs typeface="Arial"/>
                <a:sym typeface="Arial"/>
              </a:rPr>
              <a:t>PDF Conversion</a:t>
            </a:r>
            <a:r>
              <a:rPr lang="en-US" sz="2200">
                <a:latin typeface="Arial"/>
                <a:ea typeface="Arial"/>
                <a:cs typeface="Arial"/>
                <a:sym typeface="Arial"/>
              </a:rPr>
              <a:t>: The compiled document is converted into a professional PDF report.</a:t>
            </a:r>
            <a:endParaRPr sz="2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2200">
                <a:latin typeface="Arial"/>
                <a:ea typeface="Arial"/>
                <a:cs typeface="Arial"/>
                <a:sym typeface="Arial"/>
              </a:rPr>
              <a:t>Email Delivery</a:t>
            </a:r>
            <a:r>
              <a:rPr lang="en-US" sz="2200">
                <a:latin typeface="Arial"/>
                <a:ea typeface="Arial"/>
                <a:cs typeface="Arial"/>
                <a:sym typeface="Arial"/>
              </a:rPr>
              <a:t>: The system sends the generated PDF to the user’s email address using an SMTP mail server.</a:t>
            </a:r>
            <a:endParaRPr sz="2200">
              <a:latin typeface="Arial"/>
              <a:ea typeface="Arial"/>
              <a:cs typeface="Arial"/>
              <a:sym typeface="Arial"/>
            </a:endParaRPr>
          </a:p>
          <a:p>
            <a:pPr indent="0" lvl="0" marL="0" rtl="0" algn="l">
              <a:lnSpc>
                <a:spcPct val="114000"/>
              </a:lnSpc>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4"/>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Implementation</a:t>
            </a:r>
            <a:endParaRPr>
              <a:latin typeface="Calibri"/>
              <a:ea typeface="Calibri"/>
              <a:cs typeface="Calibri"/>
              <a:sym typeface="Calibri"/>
            </a:endParaRPr>
          </a:p>
        </p:txBody>
      </p:sp>
      <p:sp>
        <p:nvSpPr>
          <p:cNvPr id="178" name="Google Shape;178;p24"/>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342900" lvl="0" marL="342900" rtl="0" algn="l">
              <a:lnSpc>
                <a:spcPct val="114000"/>
              </a:lnSpc>
              <a:spcBef>
                <a:spcPts val="0"/>
              </a:spcBef>
              <a:spcAft>
                <a:spcPts val="0"/>
              </a:spcAft>
              <a:buClr>
                <a:schemeClr val="dk1"/>
              </a:buClr>
              <a:buSzPts val="2400"/>
              <a:buFont typeface="Noto Sans Symbols"/>
              <a:buChar char="▪"/>
            </a:pPr>
            <a:r>
              <a:rPr lang="en-US"/>
              <a:t>Implementation of </a:t>
            </a:r>
            <a:endParaRPr/>
          </a:p>
          <a:p>
            <a:pPr indent="0" lvl="0" marL="0" rtl="0" algn="l">
              <a:lnSpc>
                <a:spcPct val="114000"/>
              </a:lnSpc>
              <a:spcBef>
                <a:spcPts val="0"/>
              </a:spcBef>
              <a:spcAft>
                <a:spcPts val="0"/>
              </a:spcAft>
              <a:buNone/>
            </a:pPr>
            <a:r>
              <a:rPr lang="en-US"/>
              <a:t>     user module</a:t>
            </a:r>
            <a:endParaRPr/>
          </a:p>
          <a:p>
            <a:pPr indent="0" lvl="0" marL="0" rtl="0" algn="l">
              <a:lnSpc>
                <a:spcPct val="114000"/>
              </a:lnSpc>
              <a:spcBef>
                <a:spcPts val="400"/>
              </a:spcBef>
              <a:spcAft>
                <a:spcPts val="0"/>
              </a:spcAft>
              <a:buNone/>
            </a:pPr>
            <a:r>
              <a:t/>
            </a:r>
            <a:endParaRPr/>
          </a:p>
          <a:p>
            <a:pPr indent="0" lvl="0" marL="0" rtl="0" algn="l">
              <a:lnSpc>
                <a:spcPct val="114000"/>
              </a:lnSpc>
              <a:spcBef>
                <a:spcPts val="400"/>
              </a:spcBef>
              <a:spcAft>
                <a:spcPts val="0"/>
              </a:spcAft>
              <a:buNone/>
            </a:pPr>
            <a:r>
              <a:t/>
            </a:r>
            <a:endParaRPr/>
          </a:p>
          <a:p>
            <a:pPr indent="0" lvl="0" marL="0" rtl="0" algn="l">
              <a:lnSpc>
                <a:spcPct val="114000"/>
              </a:lnSpc>
              <a:spcBef>
                <a:spcPts val="400"/>
              </a:spcBef>
              <a:spcAft>
                <a:spcPts val="0"/>
              </a:spcAft>
              <a:buNone/>
            </a:pPr>
            <a:r>
              <a:t/>
            </a:r>
            <a:endParaRPr/>
          </a:p>
          <a:p>
            <a:pPr indent="0" lvl="0" marL="0" rtl="0" algn="l">
              <a:lnSpc>
                <a:spcPct val="114000"/>
              </a:lnSpc>
              <a:spcBef>
                <a:spcPts val="400"/>
              </a:spcBef>
              <a:spcAft>
                <a:spcPts val="0"/>
              </a:spcAft>
              <a:buNone/>
            </a:pPr>
            <a:r>
              <a:t/>
            </a:r>
            <a:endParaRPr/>
          </a:p>
          <a:p>
            <a:pPr indent="-342900" lvl="0" marL="342900" rtl="0" algn="l">
              <a:lnSpc>
                <a:spcPct val="114000"/>
              </a:lnSpc>
              <a:spcBef>
                <a:spcPts val="480"/>
              </a:spcBef>
              <a:spcAft>
                <a:spcPts val="0"/>
              </a:spcAft>
              <a:buClr>
                <a:schemeClr val="dk1"/>
              </a:buClr>
              <a:buSzPts val="2400"/>
              <a:buFont typeface="Noto Sans Symbols"/>
              <a:buChar char="▪"/>
            </a:pPr>
            <a:r>
              <a:rPr lang="en-US"/>
              <a:t>Implementation of</a:t>
            </a:r>
            <a:endParaRPr/>
          </a:p>
          <a:p>
            <a:pPr indent="-342900" lvl="0" marL="342900" rtl="0" algn="l">
              <a:lnSpc>
                <a:spcPct val="114000"/>
              </a:lnSpc>
              <a:spcBef>
                <a:spcPts val="480"/>
              </a:spcBef>
              <a:spcAft>
                <a:spcPts val="0"/>
              </a:spcAft>
              <a:buClr>
                <a:schemeClr val="dk1"/>
              </a:buClr>
              <a:buSzPts val="2400"/>
              <a:buFont typeface="Noto Sans Symbols"/>
              <a:buChar char="▪"/>
            </a:pPr>
            <a:r>
              <a:rPr lang="en-US"/>
              <a:t> data extraction</a:t>
            </a:r>
            <a:endParaRPr/>
          </a:p>
          <a:p>
            <a:pPr indent="0" lvl="0" marL="742950" rtl="0" algn="l">
              <a:lnSpc>
                <a:spcPct val="114000"/>
              </a:lnSpc>
              <a:spcBef>
                <a:spcPts val="400"/>
              </a:spcBef>
              <a:spcAft>
                <a:spcPts val="0"/>
              </a:spcAft>
              <a:buNone/>
            </a:pPr>
            <a:r>
              <a:t/>
            </a:r>
            <a:endParaRPr/>
          </a:p>
          <a:p>
            <a:pPr indent="-190500" lvl="0" marL="342900" rtl="0" algn="l">
              <a:lnSpc>
                <a:spcPct val="114000"/>
              </a:lnSpc>
              <a:spcBef>
                <a:spcPts val="480"/>
              </a:spcBef>
              <a:spcAft>
                <a:spcPts val="0"/>
              </a:spcAft>
              <a:buClr>
                <a:schemeClr val="dk1"/>
              </a:buClr>
              <a:buSzPts val="2400"/>
              <a:buFont typeface="Noto Sans Symbols"/>
              <a:buNone/>
            </a:pPr>
            <a:r>
              <a:t/>
            </a:r>
            <a:endParaRPr/>
          </a:p>
        </p:txBody>
      </p:sp>
      <p:pic>
        <p:nvPicPr>
          <p:cNvPr id="179" name="Google Shape;179;p24"/>
          <p:cNvPicPr preferRelativeResize="0"/>
          <p:nvPr/>
        </p:nvPicPr>
        <p:blipFill>
          <a:blip r:embed="rId3">
            <a:alphaModFix/>
          </a:blip>
          <a:stretch>
            <a:fillRect/>
          </a:stretch>
        </p:blipFill>
        <p:spPr>
          <a:xfrm>
            <a:off x="3437875" y="914399"/>
            <a:ext cx="4704749" cy="3458199"/>
          </a:xfrm>
          <a:prstGeom prst="rect">
            <a:avLst/>
          </a:prstGeom>
          <a:noFill/>
          <a:ln>
            <a:noFill/>
          </a:ln>
        </p:spPr>
      </p:pic>
      <p:sp>
        <p:nvSpPr>
          <p:cNvPr id="180" name="Google Shape;180;p24"/>
          <p:cNvSpPr txBox="1"/>
          <p:nvPr/>
        </p:nvSpPr>
        <p:spPr>
          <a:xfrm>
            <a:off x="3301175" y="4760750"/>
            <a:ext cx="3064800" cy="71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pic>
        <p:nvPicPr>
          <p:cNvPr id="181" name="Google Shape;181;p24"/>
          <p:cNvPicPr preferRelativeResize="0"/>
          <p:nvPr/>
        </p:nvPicPr>
        <p:blipFill>
          <a:blip r:embed="rId4">
            <a:alphaModFix/>
          </a:blip>
          <a:stretch>
            <a:fillRect/>
          </a:stretch>
        </p:blipFill>
        <p:spPr>
          <a:xfrm>
            <a:off x="2942513" y="4653398"/>
            <a:ext cx="5530575" cy="167120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5"/>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Testing</a:t>
            </a:r>
            <a:endParaRPr>
              <a:latin typeface="Calibri"/>
              <a:ea typeface="Calibri"/>
              <a:cs typeface="Calibri"/>
              <a:sym typeface="Calibri"/>
            </a:endParaRPr>
          </a:p>
        </p:txBody>
      </p:sp>
      <p:sp>
        <p:nvSpPr>
          <p:cNvPr id="188" name="Google Shape;188;p25"/>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0" rtl="0" algn="l">
              <a:lnSpc>
                <a:spcPct val="114000"/>
              </a:lnSpc>
              <a:spcBef>
                <a:spcPts val="0"/>
              </a:spcBef>
              <a:spcAft>
                <a:spcPts val="0"/>
              </a:spcAft>
              <a:buNone/>
            </a:pPr>
            <a:r>
              <a:rPr lang="en-US"/>
              <a:t>Sample document           </a:t>
            </a:r>
            <a:endParaRPr/>
          </a:p>
          <a:p>
            <a:pPr indent="0" lvl="0" marL="0" rtl="0" algn="l">
              <a:lnSpc>
                <a:spcPct val="114000"/>
              </a:lnSpc>
              <a:spcBef>
                <a:spcPts val="0"/>
              </a:spcBef>
              <a:spcAft>
                <a:spcPts val="0"/>
              </a:spcAft>
              <a:buNone/>
            </a:pPr>
            <a:r>
              <a:t/>
            </a:r>
            <a:endParaRPr/>
          </a:p>
          <a:p>
            <a:pPr indent="0" lvl="0" marL="0" rtl="0" algn="l">
              <a:lnSpc>
                <a:spcPct val="114000"/>
              </a:lnSpc>
              <a:spcBef>
                <a:spcPts val="0"/>
              </a:spcBef>
              <a:spcAft>
                <a:spcPts val="0"/>
              </a:spcAft>
              <a:buNone/>
            </a:pPr>
            <a:r>
              <a:t/>
            </a:r>
            <a:endParaRPr/>
          </a:p>
          <a:p>
            <a:pPr indent="0" lvl="0" marL="0" rtl="0" algn="l">
              <a:lnSpc>
                <a:spcPct val="114000"/>
              </a:lnSpc>
              <a:spcBef>
                <a:spcPts val="0"/>
              </a:spcBef>
              <a:spcAft>
                <a:spcPts val="0"/>
              </a:spcAft>
              <a:buNone/>
            </a:pPr>
            <a:r>
              <a:t/>
            </a:r>
            <a:endParaRPr/>
          </a:p>
          <a:p>
            <a:pPr indent="0" lvl="0" marL="0" rtl="0" algn="l">
              <a:lnSpc>
                <a:spcPct val="114000"/>
              </a:lnSpc>
              <a:spcBef>
                <a:spcPts val="0"/>
              </a:spcBef>
              <a:spcAft>
                <a:spcPts val="0"/>
              </a:spcAft>
              <a:buNone/>
            </a:pPr>
            <a:r>
              <a:t/>
            </a:r>
            <a:endParaRPr/>
          </a:p>
          <a:p>
            <a:pPr indent="0" lvl="0" marL="0" rtl="0" algn="l">
              <a:lnSpc>
                <a:spcPct val="114000"/>
              </a:lnSpc>
              <a:spcBef>
                <a:spcPts val="0"/>
              </a:spcBef>
              <a:spcAft>
                <a:spcPts val="0"/>
              </a:spcAft>
              <a:buNone/>
            </a:pPr>
            <a:r>
              <a:t/>
            </a:r>
            <a:endParaRPr/>
          </a:p>
          <a:p>
            <a:pPr indent="0" lvl="0" marL="0" rtl="0" algn="l">
              <a:lnSpc>
                <a:spcPct val="114000"/>
              </a:lnSpc>
              <a:spcBef>
                <a:spcPts val="0"/>
              </a:spcBef>
              <a:spcAft>
                <a:spcPts val="0"/>
              </a:spcAft>
              <a:buNone/>
            </a:pPr>
            <a:r>
              <a:t/>
            </a:r>
            <a:endParaRPr/>
          </a:p>
          <a:p>
            <a:pPr indent="0" lvl="0" marL="0" rtl="0" algn="l">
              <a:lnSpc>
                <a:spcPct val="114000"/>
              </a:lnSpc>
              <a:spcBef>
                <a:spcPts val="0"/>
              </a:spcBef>
              <a:spcAft>
                <a:spcPts val="0"/>
              </a:spcAft>
              <a:buNone/>
            </a:pPr>
            <a:r>
              <a:rPr lang="en-US"/>
              <a:t>Sample mail</a:t>
            </a:r>
            <a:endParaRPr/>
          </a:p>
          <a:p>
            <a:pPr indent="0" lvl="0" marL="0" rtl="0" algn="l">
              <a:lnSpc>
                <a:spcPct val="114000"/>
              </a:lnSpc>
              <a:spcBef>
                <a:spcPts val="0"/>
              </a:spcBef>
              <a:spcAft>
                <a:spcPts val="0"/>
              </a:spcAft>
              <a:buNone/>
            </a:pPr>
            <a:r>
              <a:t/>
            </a:r>
            <a:endParaRPr/>
          </a:p>
          <a:p>
            <a:pPr indent="-190500" lvl="0" marL="342900" rtl="0" algn="l">
              <a:lnSpc>
                <a:spcPct val="114000"/>
              </a:lnSpc>
              <a:spcBef>
                <a:spcPts val="480"/>
              </a:spcBef>
              <a:spcAft>
                <a:spcPts val="0"/>
              </a:spcAft>
              <a:buClr>
                <a:schemeClr val="dk1"/>
              </a:buClr>
              <a:buSzPts val="2400"/>
              <a:buFont typeface="Noto Sans Symbols"/>
              <a:buNone/>
            </a:pPr>
            <a:r>
              <a:t/>
            </a:r>
            <a:endParaRPr/>
          </a:p>
        </p:txBody>
      </p:sp>
      <p:pic>
        <p:nvPicPr>
          <p:cNvPr id="189" name="Google Shape;189;p25"/>
          <p:cNvPicPr preferRelativeResize="0"/>
          <p:nvPr/>
        </p:nvPicPr>
        <p:blipFill>
          <a:blip r:embed="rId3">
            <a:alphaModFix/>
          </a:blip>
          <a:stretch>
            <a:fillRect/>
          </a:stretch>
        </p:blipFill>
        <p:spPr>
          <a:xfrm>
            <a:off x="854825" y="1646598"/>
            <a:ext cx="7135525" cy="2209375"/>
          </a:xfrm>
          <a:prstGeom prst="rect">
            <a:avLst/>
          </a:prstGeom>
          <a:noFill/>
          <a:ln>
            <a:noFill/>
          </a:ln>
        </p:spPr>
      </p:pic>
      <p:pic>
        <p:nvPicPr>
          <p:cNvPr id="190" name="Google Shape;190;p25"/>
          <p:cNvPicPr preferRelativeResize="0"/>
          <p:nvPr/>
        </p:nvPicPr>
        <p:blipFill>
          <a:blip r:embed="rId4">
            <a:alphaModFix/>
          </a:blip>
          <a:stretch>
            <a:fillRect/>
          </a:stretch>
        </p:blipFill>
        <p:spPr>
          <a:xfrm>
            <a:off x="1157199" y="4414875"/>
            <a:ext cx="7272301" cy="19097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6"/>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Conclusions</a:t>
            </a:r>
            <a:endParaRPr>
              <a:latin typeface="Calibri"/>
              <a:ea typeface="Calibri"/>
              <a:cs typeface="Calibri"/>
              <a:sym typeface="Calibri"/>
            </a:endParaRPr>
          </a:p>
        </p:txBody>
      </p:sp>
      <p:sp>
        <p:nvSpPr>
          <p:cNvPr id="197" name="Google Shape;197;p26"/>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14000"/>
              </a:lnSpc>
              <a:spcBef>
                <a:spcPts val="0"/>
              </a:spcBef>
              <a:spcAft>
                <a:spcPts val="0"/>
              </a:spcAft>
              <a:buNone/>
            </a:pPr>
            <a:r>
              <a:rPr lang="en-US"/>
              <a:t>The "Tour Planner" project successfully automates the travel planning process, streamlining the retrieval of crucial destination information and providing users with a detailed, structured travel report. By leveraging UiPath's RPA capabilities, the system efficiently extracts data, runs tasks in parallel, and generates a personalized travel plan in PDF format. This project demonstrates the potential of RPA to improve efficiency and enhance user experience in the tourism domain, eliminating the need for manual data gathering and report creation. With automated email delivery, the solution ensures a seamless, user-friendly process, making travel planning faster and more convenient for users. The "Tour Planner" sets a foundation for further enhancements in automation within the travel and tourism industry, promising greater scalability and ease of use in future iterations.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7"/>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Future Enhancement</a:t>
            </a:r>
            <a:endParaRPr>
              <a:latin typeface="Calibri"/>
              <a:ea typeface="Calibri"/>
              <a:cs typeface="Calibri"/>
              <a:sym typeface="Calibri"/>
            </a:endParaRPr>
          </a:p>
        </p:txBody>
      </p:sp>
      <p:sp>
        <p:nvSpPr>
          <p:cNvPr id="204" name="Google Shape;204;p27"/>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700">
                <a:latin typeface="Arial"/>
                <a:ea typeface="Arial"/>
                <a:cs typeface="Arial"/>
                <a:sym typeface="Arial"/>
              </a:rPr>
              <a:t>Multi-Destination Planning</a:t>
            </a:r>
            <a:r>
              <a:rPr lang="en-US" sz="1700">
                <a:latin typeface="Arial"/>
                <a:ea typeface="Arial"/>
                <a:cs typeface="Arial"/>
                <a:sym typeface="Arial"/>
              </a:rPr>
              <a:t>:</a:t>
            </a:r>
            <a:endParaRPr sz="1700">
              <a:latin typeface="Arial"/>
              <a:ea typeface="Arial"/>
              <a:cs typeface="Arial"/>
              <a:sym typeface="Arial"/>
            </a:endParaRPr>
          </a:p>
          <a:p>
            <a:pPr indent="0" lvl="0" marL="0" rtl="0" algn="l">
              <a:lnSpc>
                <a:spcPct val="114000"/>
              </a:lnSpc>
              <a:spcBef>
                <a:spcPts val="0"/>
              </a:spcBef>
              <a:spcAft>
                <a:spcPts val="0"/>
              </a:spcAft>
              <a:buNone/>
            </a:pPr>
            <a:r>
              <a:rPr lang="en-US" sz="1700">
                <a:latin typeface="Arial"/>
                <a:ea typeface="Arial"/>
                <a:cs typeface="Arial"/>
                <a:sym typeface="Arial"/>
              </a:rPr>
              <a:t>Expand the system to support planning for multiple destinations in a single report, with optimized travel routes and schedules.</a:t>
            </a:r>
            <a:endParaRPr sz="17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1700">
                <a:latin typeface="Arial"/>
                <a:ea typeface="Arial"/>
                <a:cs typeface="Arial"/>
                <a:sym typeface="Arial"/>
              </a:rPr>
              <a:t>Integration with Maps</a:t>
            </a:r>
            <a:r>
              <a:rPr lang="en-US" sz="1700">
                <a:latin typeface="Arial"/>
                <a:ea typeface="Arial"/>
                <a:cs typeface="Arial"/>
                <a:sym typeface="Arial"/>
              </a:rPr>
              <a:t>:</a:t>
            </a:r>
            <a:endParaRPr sz="1700">
              <a:latin typeface="Arial"/>
              <a:ea typeface="Arial"/>
              <a:cs typeface="Arial"/>
              <a:sym typeface="Arial"/>
            </a:endParaRPr>
          </a:p>
          <a:p>
            <a:pPr indent="0" lvl="0" marL="0" rtl="0" algn="l">
              <a:lnSpc>
                <a:spcPct val="114000"/>
              </a:lnSpc>
              <a:spcBef>
                <a:spcPts val="0"/>
              </a:spcBef>
              <a:spcAft>
                <a:spcPts val="0"/>
              </a:spcAft>
              <a:buNone/>
            </a:pPr>
            <a:r>
              <a:rPr lang="en-US" sz="1700">
                <a:latin typeface="Arial"/>
                <a:ea typeface="Arial"/>
                <a:cs typeface="Arial"/>
                <a:sym typeface="Arial"/>
              </a:rPr>
              <a:t>Add features for route visualization and distance estimation using APIs like Google Maps.</a:t>
            </a:r>
            <a:endParaRPr sz="17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1700">
                <a:latin typeface="Arial"/>
                <a:ea typeface="Arial"/>
                <a:cs typeface="Arial"/>
                <a:sym typeface="Arial"/>
              </a:rPr>
              <a:t>Voice Input Support</a:t>
            </a:r>
            <a:r>
              <a:rPr lang="en-US" sz="1700">
                <a:latin typeface="Arial"/>
                <a:ea typeface="Arial"/>
                <a:cs typeface="Arial"/>
                <a:sym typeface="Arial"/>
              </a:rPr>
              <a:t>:</a:t>
            </a:r>
            <a:endParaRPr sz="1700">
              <a:latin typeface="Arial"/>
              <a:ea typeface="Arial"/>
              <a:cs typeface="Arial"/>
              <a:sym typeface="Arial"/>
            </a:endParaRPr>
          </a:p>
          <a:p>
            <a:pPr indent="0" lvl="0" marL="0" rtl="0" algn="l">
              <a:lnSpc>
                <a:spcPct val="114000"/>
              </a:lnSpc>
              <a:spcBef>
                <a:spcPts val="0"/>
              </a:spcBef>
              <a:spcAft>
                <a:spcPts val="0"/>
              </a:spcAft>
              <a:buNone/>
            </a:pPr>
            <a:r>
              <a:rPr lang="en-US" sz="1700">
                <a:latin typeface="Arial"/>
                <a:ea typeface="Arial"/>
                <a:cs typeface="Arial"/>
                <a:sym typeface="Arial"/>
              </a:rPr>
              <a:t>Enable users to input their locations and preferences via voice commands for a hands-free experience.</a:t>
            </a:r>
            <a:endParaRPr sz="17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1700">
                <a:latin typeface="Arial"/>
                <a:ea typeface="Arial"/>
                <a:cs typeface="Arial"/>
                <a:sym typeface="Arial"/>
              </a:rPr>
              <a:t>Mobile Application</a:t>
            </a:r>
            <a:r>
              <a:rPr lang="en-US" sz="1700">
                <a:latin typeface="Arial"/>
                <a:ea typeface="Arial"/>
                <a:cs typeface="Arial"/>
                <a:sym typeface="Arial"/>
              </a:rPr>
              <a:t>:</a:t>
            </a:r>
            <a:endParaRPr sz="1700">
              <a:latin typeface="Arial"/>
              <a:ea typeface="Arial"/>
              <a:cs typeface="Arial"/>
              <a:sym typeface="Arial"/>
            </a:endParaRPr>
          </a:p>
          <a:p>
            <a:pPr indent="0" lvl="0" marL="0" rtl="0" algn="l">
              <a:lnSpc>
                <a:spcPct val="114000"/>
              </a:lnSpc>
              <a:spcBef>
                <a:spcPts val="0"/>
              </a:spcBef>
              <a:spcAft>
                <a:spcPts val="0"/>
              </a:spcAft>
              <a:buNone/>
            </a:pPr>
            <a:r>
              <a:rPr lang="en-US" sz="1700">
                <a:latin typeface="Arial"/>
                <a:ea typeface="Arial"/>
                <a:cs typeface="Arial"/>
                <a:sym typeface="Arial"/>
              </a:rPr>
              <a:t>Develop a mobile app version of the system for easier access and usability on smartphones.</a:t>
            </a:r>
            <a:endParaRPr sz="1700">
              <a:latin typeface="Arial"/>
              <a:ea typeface="Arial"/>
              <a:cs typeface="Arial"/>
              <a:sym typeface="Arial"/>
            </a:endParaRPr>
          </a:p>
          <a:p>
            <a:pPr indent="0" lvl="0" marL="0" rtl="0" algn="l">
              <a:spcBef>
                <a:spcPts val="480"/>
              </a:spcBef>
              <a:spcAft>
                <a:spcPts val="0"/>
              </a:spcAft>
              <a:buClr>
                <a:schemeClr val="dk1"/>
              </a:buClr>
              <a:buSzPts val="1100"/>
              <a:buFont typeface="Arial"/>
              <a:buNone/>
            </a:pPr>
            <a:r>
              <a:rPr b="1" lang="en-US" sz="1700">
                <a:latin typeface="Arial"/>
                <a:ea typeface="Arial"/>
                <a:cs typeface="Arial"/>
                <a:sym typeface="Arial"/>
              </a:rPr>
              <a:t>Language Support</a:t>
            </a:r>
            <a:r>
              <a:rPr lang="en-US" sz="1700">
                <a:latin typeface="Arial"/>
                <a:ea typeface="Arial"/>
                <a:cs typeface="Arial"/>
                <a:sym typeface="Arial"/>
              </a:rPr>
              <a:t>:</a:t>
            </a:r>
            <a:endParaRPr sz="1700">
              <a:latin typeface="Arial"/>
              <a:ea typeface="Arial"/>
              <a:cs typeface="Arial"/>
              <a:sym typeface="Arial"/>
            </a:endParaRPr>
          </a:p>
          <a:p>
            <a:pPr indent="0" lvl="0" marL="0" rtl="0" algn="l">
              <a:lnSpc>
                <a:spcPct val="114000"/>
              </a:lnSpc>
              <a:spcBef>
                <a:spcPts val="480"/>
              </a:spcBef>
              <a:spcAft>
                <a:spcPts val="0"/>
              </a:spcAft>
              <a:buClr>
                <a:schemeClr val="dk1"/>
              </a:buClr>
              <a:buSzPts val="2400"/>
              <a:buFont typeface="Noto Sans Symbols"/>
              <a:buNone/>
            </a:pPr>
            <a:r>
              <a:rPr lang="en-US" sz="1700">
                <a:latin typeface="Arial"/>
                <a:ea typeface="Arial"/>
                <a:cs typeface="Arial"/>
                <a:sym typeface="Arial"/>
              </a:rPr>
              <a:t>Provide multilingual support to cater to a global audience with diverse language preferences.</a:t>
            </a:r>
            <a:endParaRPr sz="3400"/>
          </a:p>
          <a:p>
            <a:pPr indent="0" lvl="0" marL="0" rtl="0" algn="l">
              <a:spcBef>
                <a:spcPts val="480"/>
              </a:spcBef>
              <a:spcAft>
                <a:spcPts val="0"/>
              </a:spcAft>
              <a:buClr>
                <a:schemeClr val="dk1"/>
              </a:buClr>
              <a:buSzPts val="1100"/>
              <a:buFont typeface="Arial"/>
              <a:buNone/>
            </a:pPr>
            <a:r>
              <a:rPr b="1" lang="en-US" sz="1700">
                <a:latin typeface="Arial"/>
                <a:ea typeface="Arial"/>
                <a:cs typeface="Arial"/>
                <a:sym typeface="Arial"/>
              </a:rPr>
              <a:t>Feedback Mechanism</a:t>
            </a:r>
            <a:r>
              <a:rPr lang="en-US" sz="1700">
                <a:latin typeface="Arial"/>
                <a:ea typeface="Arial"/>
                <a:cs typeface="Arial"/>
                <a:sym typeface="Arial"/>
              </a:rPr>
              <a:t>:</a:t>
            </a:r>
            <a:endParaRPr sz="1700">
              <a:latin typeface="Arial"/>
              <a:ea typeface="Arial"/>
              <a:cs typeface="Arial"/>
              <a:sym typeface="Arial"/>
            </a:endParaRPr>
          </a:p>
          <a:p>
            <a:pPr indent="0" lvl="0" marL="0" rtl="0" algn="l">
              <a:lnSpc>
                <a:spcPct val="114000"/>
              </a:lnSpc>
              <a:spcBef>
                <a:spcPts val="480"/>
              </a:spcBef>
              <a:spcAft>
                <a:spcPts val="0"/>
              </a:spcAft>
              <a:buClr>
                <a:schemeClr val="dk1"/>
              </a:buClr>
              <a:buSzPts val="2400"/>
              <a:buFont typeface="Noto Sans Symbols"/>
              <a:buNone/>
            </a:pPr>
            <a:r>
              <a:rPr lang="en-US" sz="1700">
                <a:latin typeface="Arial"/>
                <a:ea typeface="Arial"/>
                <a:cs typeface="Arial"/>
                <a:sym typeface="Arial"/>
              </a:rPr>
              <a:t>Include a feedback system to gather user reviews and improve future iterations of the tool.</a:t>
            </a:r>
            <a:endParaRPr sz="3400"/>
          </a:p>
          <a:p>
            <a:pPr indent="-190500" lvl="0" marL="342900" rtl="0" algn="l">
              <a:lnSpc>
                <a:spcPct val="114000"/>
              </a:lnSpc>
              <a:spcBef>
                <a:spcPts val="480"/>
              </a:spcBef>
              <a:spcAft>
                <a:spcPts val="0"/>
              </a:spcAft>
              <a:buClr>
                <a:schemeClr val="dk1"/>
              </a:buClr>
              <a:buSzPts val="2400"/>
              <a:buFont typeface="Noto Sans Symbols"/>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8"/>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IEEE Paper</a:t>
            </a:r>
            <a:endParaRPr>
              <a:latin typeface="Calibri"/>
              <a:ea typeface="Calibri"/>
              <a:cs typeface="Calibri"/>
              <a:sym typeface="Calibri"/>
            </a:endParaRPr>
          </a:p>
        </p:txBody>
      </p:sp>
      <p:sp>
        <p:nvSpPr>
          <p:cNvPr id="211" name="Google Shape;211;p28"/>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0" rtl="0" algn="l">
              <a:lnSpc>
                <a:spcPct val="114000"/>
              </a:lnSpc>
              <a:spcBef>
                <a:spcPts val="0"/>
              </a:spcBef>
              <a:spcAft>
                <a:spcPts val="0"/>
              </a:spcAft>
              <a:buNone/>
            </a:pPr>
            <a:r>
              <a:rPr lang="en-US"/>
              <a:t>1)</a:t>
            </a:r>
            <a:r>
              <a:rPr lang="en-US"/>
              <a:t>"Robotic Process Automation: A Systematic Literature Review and Assessment Framework"</a:t>
            </a:r>
            <a:endParaRPr/>
          </a:p>
          <a:p>
            <a:pPr indent="0" lvl="0" marL="0" rtl="0" algn="l">
              <a:lnSpc>
                <a:spcPct val="114000"/>
              </a:lnSpc>
              <a:spcBef>
                <a:spcPts val="0"/>
              </a:spcBef>
              <a:spcAft>
                <a:spcPts val="0"/>
              </a:spcAft>
              <a:buNone/>
            </a:pPr>
            <a:r>
              <a:t/>
            </a:r>
            <a:endParaRPr/>
          </a:p>
          <a:p>
            <a:pPr indent="0" lvl="0" marL="0" rtl="0" algn="l">
              <a:lnSpc>
                <a:spcPct val="114000"/>
              </a:lnSpc>
              <a:spcBef>
                <a:spcPts val="0"/>
              </a:spcBef>
              <a:spcAft>
                <a:spcPts val="0"/>
              </a:spcAft>
              <a:buNone/>
            </a:pPr>
            <a:r>
              <a:rPr lang="en-US"/>
              <a:t>2)"Integration of Artificial Intelligence and Robotic Process Automation: Literature Review and Proposal for a Sustainable Model"</a:t>
            </a:r>
            <a:endParaRPr/>
          </a:p>
          <a:p>
            <a:pPr indent="0" lvl="0" marL="0" rtl="0" algn="l">
              <a:lnSpc>
                <a:spcPct val="114000"/>
              </a:lnSpc>
              <a:spcBef>
                <a:spcPts val="0"/>
              </a:spcBef>
              <a:spcAft>
                <a:spcPts val="0"/>
              </a:spcAft>
              <a:buNone/>
            </a:pPr>
            <a:r>
              <a:t/>
            </a:r>
            <a:endParaRPr/>
          </a:p>
          <a:p>
            <a:pPr indent="0" lvl="0" marL="0" rtl="0" algn="l">
              <a:lnSpc>
                <a:spcPct val="114000"/>
              </a:lnSpc>
              <a:spcBef>
                <a:spcPts val="0"/>
              </a:spcBef>
              <a:spcAft>
                <a:spcPts val="0"/>
              </a:spcAft>
              <a:buNone/>
            </a:pPr>
            <a:r>
              <a:rPr lang="en-US"/>
              <a:t>3)"Robotic Process Automation and Consequences for Knowledge Workers: A Mixed-Method Study"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9"/>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References</a:t>
            </a:r>
            <a:endParaRPr>
              <a:latin typeface="Calibri"/>
              <a:ea typeface="Calibri"/>
              <a:cs typeface="Calibri"/>
              <a:sym typeface="Calibri"/>
            </a:endParaRPr>
          </a:p>
        </p:txBody>
      </p:sp>
      <p:sp>
        <p:nvSpPr>
          <p:cNvPr id="218" name="Google Shape;218;p29"/>
          <p:cNvSpPr txBox="1"/>
          <p:nvPr>
            <p:ph idx="1" type="body"/>
          </p:nvPr>
        </p:nvSpPr>
        <p:spPr>
          <a:xfrm>
            <a:off x="190500" y="1457875"/>
            <a:ext cx="8763000" cy="5334000"/>
          </a:xfrm>
          <a:prstGeom prst="rect">
            <a:avLst/>
          </a:prstGeom>
          <a:noFill/>
          <a:ln>
            <a:noFill/>
          </a:ln>
        </p:spPr>
        <p:txBody>
          <a:bodyPr anchorCtr="0" anchor="t" bIns="45700" lIns="91425" spcFirstLastPara="1" rIns="91425" wrap="square" tIns="45700">
            <a:normAutofit/>
          </a:bodyPr>
          <a:lstStyle/>
          <a:p>
            <a:pPr indent="0" lvl="0" marL="342900" rtl="0" algn="l">
              <a:lnSpc>
                <a:spcPct val="114000"/>
              </a:lnSpc>
              <a:spcBef>
                <a:spcPts val="0"/>
              </a:spcBef>
              <a:spcAft>
                <a:spcPts val="0"/>
              </a:spcAft>
              <a:buNone/>
            </a:pPr>
            <a:r>
              <a:rPr lang="en-US"/>
              <a:t> 1. Avasarala, V. (2019). Robotic Process Automation: The Next Transformation in Digital Transformation. International Journal of Advanced Research in Computer Science, 10(3), 5 12. 2. Lacity, M. C., &amp; Willcocks, L. P. (2016). A Survey on Robotic Process Automation in Business. Journal of Information Technology, 31(2), 174 183. 3. Goudar, R. H., &amp; Soni, M. P. (2017). Automation and Monitoring in Cloud Computing Systems. Journal of Cloud Computing: Advances, Systems, and Applications, 6(1), 23-36.</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0"/>
          <p:cNvSpPr/>
          <p:nvPr/>
        </p:nvSpPr>
        <p:spPr>
          <a:xfrm>
            <a:off x="2532822" y="2321005"/>
            <a:ext cx="4078361" cy="15696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9600">
                <a:solidFill>
                  <a:schemeClr val="dk1"/>
                </a:solidFill>
                <a:latin typeface="Calibri"/>
                <a:ea typeface="Calibri"/>
                <a:cs typeface="Calibri"/>
                <a:sym typeface="Calibri"/>
              </a:rPr>
              <a:t>Queries</a:t>
            </a:r>
            <a:endParaRPr sz="96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1"/>
          <p:cNvSpPr/>
          <p:nvPr/>
        </p:nvSpPr>
        <p:spPr>
          <a:xfrm>
            <a:off x="727460" y="2321005"/>
            <a:ext cx="7689093" cy="15696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9600">
                <a:solidFill>
                  <a:schemeClr val="dk1"/>
                </a:solidFill>
                <a:latin typeface="Calibri"/>
                <a:ea typeface="Calibri"/>
                <a:cs typeface="Calibri"/>
                <a:sym typeface="Calibri"/>
              </a:rPr>
              <a:t>Demonstration</a:t>
            </a:r>
            <a:endParaRPr sz="96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2"/>
          <p:cNvSpPr/>
          <p:nvPr/>
        </p:nvSpPr>
        <p:spPr>
          <a:xfrm>
            <a:off x="1844234" y="2321005"/>
            <a:ext cx="5455532" cy="15696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9600">
                <a:solidFill>
                  <a:schemeClr val="dk1"/>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